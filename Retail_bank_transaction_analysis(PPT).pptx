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76" r:id="rId3"/>
    <p:sldId id="266" r:id="rId4"/>
    <p:sldId id="267" r:id="rId5"/>
    <p:sldId id="257" r:id="rId6"/>
    <p:sldId id="260" r:id="rId7"/>
    <p:sldId id="258" r:id="rId8"/>
    <p:sldId id="265" r:id="rId9"/>
    <p:sldId id="268" r:id="rId10"/>
    <p:sldId id="269" r:id="rId11"/>
    <p:sldId id="274" r:id="rId12"/>
    <p:sldId id="275" r:id="rId13"/>
    <p:sldId id="264" r:id="rId14"/>
    <p:sldId id="270" r:id="rId15"/>
    <p:sldId id="271" r:id="rId16"/>
    <p:sldId id="272" r:id="rId17"/>
    <p:sldId id="273" r:id="rId18"/>
    <p:sldId id="259" r:id="rId19"/>
  </p:sldIdLst>
  <p:sldSz cx="12192000" cy="6858000"/>
  <p:notesSz cx="6858000" cy="9144000"/>
  <p:embeddedFontLst>
    <p:embeddedFont>
      <p:font typeface="Lato Black" panose="020F0502020204030203" pitchFamily="34" charset="0"/>
      <p:bold r:id="rId21"/>
    </p:embeddedFont>
    <p:embeddedFont>
      <p:font typeface="Libre Baskerville" panose="02000000000000000000" pitchFamily="2"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9450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63902"/>
            <a:ext cx="12190815" cy="6694098"/>
          </a:xfrm>
          <a:prstGeom prst="rect">
            <a:avLst/>
          </a:prstGeom>
          <a:noFill/>
          <a:ln>
            <a:noFill/>
          </a:ln>
        </p:spPr>
      </p:pic>
      <p:sp>
        <p:nvSpPr>
          <p:cNvPr id="99" name="Google Shape;99;p1"/>
          <p:cNvSpPr txBox="1"/>
          <p:nvPr/>
        </p:nvSpPr>
        <p:spPr>
          <a:xfrm>
            <a:off x="2911816" y="3169346"/>
            <a:ext cx="7244907" cy="276994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2800" i="0" u="none" strike="noStrike" cap="none" dirty="0">
                <a:solidFill>
                  <a:schemeClr val="dk1"/>
                </a:solidFill>
                <a:latin typeface="Calibri"/>
                <a:ea typeface="Calibri"/>
                <a:cs typeface="Calibri"/>
                <a:sym typeface="Calibri"/>
              </a:rPr>
            </a:br>
            <a:r>
              <a:rPr lang="en-IN" sz="2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RETAIL BANKING TRANSACTION</a:t>
            </a:r>
          </a:p>
          <a:p>
            <a:pPr marL="0" marR="0" lvl="0" indent="0" algn="ctr" rtl="0">
              <a:lnSpc>
                <a:spcPct val="100000"/>
              </a:lnSpc>
              <a:spcBef>
                <a:spcPts val="0"/>
              </a:spcBef>
              <a:spcAft>
                <a:spcPts val="0"/>
              </a:spcAft>
              <a:buClr>
                <a:srgbClr val="000000"/>
              </a:buClr>
              <a:buSzPts val="1800"/>
              <a:buFont typeface="Arial"/>
              <a:buNone/>
            </a:pPr>
            <a:r>
              <a:rPr lang="en-IN" sz="2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ANALYSIS</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                                                                                    </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 Presented By – Mahesh</a:t>
            </a:r>
          </a:p>
          <a:p>
            <a:pPr marL="0" marR="0" lvl="0" indent="0" algn="ctr" rtl="0">
              <a:lnSpc>
                <a:spcPct val="100000"/>
              </a:lnSpc>
              <a:spcBef>
                <a:spcPts val="0"/>
              </a:spcBef>
              <a:spcAft>
                <a:spcPts val="0"/>
              </a:spcAft>
              <a:buClr>
                <a:srgbClr val="000000"/>
              </a:buClr>
              <a:buSzPts val="1800"/>
              <a:buFont typeface="Arial"/>
              <a:buNone/>
            </a:pPr>
            <a:r>
              <a:rPr lang="en-IN" sz="1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(2025 -2026)</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In </a:t>
            </a:r>
          </a:p>
          <a:p>
            <a:pPr marL="0" marR="0" lvl="0" indent="0" algn="ctr" rtl="0">
              <a:lnSpc>
                <a:spcPct val="100000"/>
              </a:lnSpc>
              <a:spcBef>
                <a:spcPts val="0"/>
              </a:spcBef>
              <a:spcAft>
                <a:spcPts val="0"/>
              </a:spcAft>
              <a:buClr>
                <a:srgbClr val="000000"/>
              </a:buClr>
              <a:buSzPts val="1800"/>
              <a:buFont typeface="Arial"/>
              <a:buNone/>
            </a:pPr>
            <a:r>
              <a:rPr lang="en-IN" sz="1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Computer Science &amp;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FB8338-3F39-CAE3-A1A9-2CE28EE3690F}"/>
              </a:ext>
            </a:extLst>
          </p:cNvPr>
          <p:cNvSpPr txBox="1"/>
          <p:nvPr/>
        </p:nvSpPr>
        <p:spPr>
          <a:xfrm>
            <a:off x="108155" y="226142"/>
            <a:ext cx="12083845" cy="677108"/>
          </a:xfrm>
          <a:prstGeom prst="rect">
            <a:avLst/>
          </a:prstGeom>
          <a:noFill/>
        </p:spPr>
        <p:txBody>
          <a:bodyPr wrap="square" rtlCol="0">
            <a:spAutoFit/>
          </a:bodyPr>
          <a:lstStyle/>
          <a:p>
            <a:r>
              <a:rPr lang="en-US" dirty="0"/>
              <a:t>                     				</a:t>
            </a:r>
            <a:r>
              <a:rPr lang="en-US" sz="2400" b="1" dirty="0">
                <a:solidFill>
                  <a:srgbClr val="FF0000"/>
                </a:solidFill>
              </a:rPr>
              <a:t>Meet Team </a:t>
            </a:r>
          </a:p>
          <a:p>
            <a:pPr marL="285750" indent="-285750">
              <a:buFont typeface="Wingdings" panose="05000000000000000000" pitchFamily="2" charset="2"/>
              <a:buChar char="Ø"/>
            </a:pPr>
            <a:endParaRPr lang="en-IN" dirty="0"/>
          </a:p>
        </p:txBody>
      </p:sp>
      <p:sp>
        <p:nvSpPr>
          <p:cNvPr id="4" name="TextBox 3">
            <a:extLst>
              <a:ext uri="{FF2B5EF4-FFF2-40B4-BE49-F238E27FC236}">
                <a16:creationId xmlns:a16="http://schemas.microsoft.com/office/drawing/2014/main" id="{33DD70A4-9976-C306-D2E5-791DE835EF48}"/>
              </a:ext>
            </a:extLst>
          </p:cNvPr>
          <p:cNvSpPr txBox="1"/>
          <p:nvPr/>
        </p:nvSpPr>
        <p:spPr>
          <a:xfrm>
            <a:off x="1052051" y="1267929"/>
            <a:ext cx="2703872" cy="2677656"/>
          </a:xfrm>
          <a:prstGeom prst="rect">
            <a:avLst/>
          </a:prstGeom>
          <a:noFill/>
        </p:spPr>
        <p:txBody>
          <a:bodyPr wrap="square" rtlCol="0">
            <a:spAutoFit/>
          </a:bodyPr>
          <a:lstStyle/>
          <a:p>
            <a:r>
              <a:rPr lang="en-US" b="1" dirty="0"/>
              <a:t>Mahesh Nasarla</a:t>
            </a:r>
          </a:p>
          <a:p>
            <a:endParaRPr lang="en-US" dirty="0"/>
          </a:p>
          <a:p>
            <a:endParaRPr lang="en-US" dirty="0"/>
          </a:p>
          <a:p>
            <a:r>
              <a:rPr lang="en-US" b="1" dirty="0"/>
              <a:t>Background</a:t>
            </a:r>
            <a:r>
              <a:rPr lang="en-US" dirty="0"/>
              <a:t> : B.Tech</a:t>
            </a:r>
          </a:p>
          <a:p>
            <a:endParaRPr lang="en-US" dirty="0"/>
          </a:p>
          <a:p>
            <a:endParaRPr lang="en-US" dirty="0"/>
          </a:p>
          <a:p>
            <a:r>
              <a:rPr lang="en-IN" b="1" dirty="0"/>
              <a:t>Experience</a:t>
            </a:r>
            <a:r>
              <a:rPr lang="en-IN" dirty="0"/>
              <a:t>: Fresher</a:t>
            </a:r>
          </a:p>
          <a:p>
            <a:endParaRPr lang="en-IN" dirty="0"/>
          </a:p>
          <a:p>
            <a:endParaRPr lang="en-IN" dirty="0"/>
          </a:p>
          <a:p>
            <a:r>
              <a:rPr lang="en-IN" b="1" dirty="0"/>
              <a:t>LinkedIn</a:t>
            </a:r>
            <a:r>
              <a:rPr lang="en-IN" dirty="0"/>
              <a:t>:</a:t>
            </a:r>
          </a:p>
          <a:p>
            <a:r>
              <a:rPr lang="en-IN" dirty="0">
                <a:solidFill>
                  <a:srgbClr val="0070C0"/>
                </a:solidFill>
              </a:rPr>
              <a:t>https://www.linkedin.com/in/mahesh-nasarla-549935359</a:t>
            </a:r>
          </a:p>
        </p:txBody>
      </p:sp>
      <p:sp>
        <p:nvSpPr>
          <p:cNvPr id="5" name="TextBox 4">
            <a:extLst>
              <a:ext uri="{FF2B5EF4-FFF2-40B4-BE49-F238E27FC236}">
                <a16:creationId xmlns:a16="http://schemas.microsoft.com/office/drawing/2014/main" id="{45463DF4-D298-E3C3-37A1-D14F60D6FD68}"/>
              </a:ext>
            </a:extLst>
          </p:cNvPr>
          <p:cNvSpPr txBox="1"/>
          <p:nvPr/>
        </p:nvSpPr>
        <p:spPr>
          <a:xfrm>
            <a:off x="4886632" y="1160206"/>
            <a:ext cx="2320413" cy="2893100"/>
          </a:xfrm>
          <a:prstGeom prst="rect">
            <a:avLst/>
          </a:prstGeom>
          <a:noFill/>
        </p:spPr>
        <p:txBody>
          <a:bodyPr wrap="square" rtlCol="0">
            <a:spAutoFit/>
          </a:bodyPr>
          <a:lstStyle/>
          <a:p>
            <a:r>
              <a:rPr lang="en-US" b="1" dirty="0"/>
              <a:t>Manishankar Eadamala</a:t>
            </a:r>
          </a:p>
          <a:p>
            <a:endParaRPr lang="en-US" dirty="0"/>
          </a:p>
          <a:p>
            <a:endParaRPr lang="en-US" dirty="0"/>
          </a:p>
          <a:p>
            <a:r>
              <a:rPr lang="en-US" b="1" dirty="0"/>
              <a:t>Background</a:t>
            </a:r>
            <a:r>
              <a:rPr lang="en-US" dirty="0"/>
              <a:t>: B.Tech</a:t>
            </a:r>
          </a:p>
          <a:p>
            <a:endParaRPr lang="en-US" dirty="0"/>
          </a:p>
          <a:p>
            <a:endParaRPr lang="en-US" dirty="0"/>
          </a:p>
          <a:p>
            <a:r>
              <a:rPr lang="en-US" b="1" dirty="0"/>
              <a:t>Experience</a:t>
            </a:r>
            <a:r>
              <a:rPr lang="en-US" dirty="0"/>
              <a:t>: Fresher</a:t>
            </a:r>
          </a:p>
          <a:p>
            <a:endParaRPr lang="en-US" dirty="0"/>
          </a:p>
          <a:p>
            <a:endParaRPr lang="en-IN" dirty="0"/>
          </a:p>
          <a:p>
            <a:r>
              <a:rPr lang="en-IN" b="1" dirty="0"/>
              <a:t>LinkedIn</a:t>
            </a:r>
            <a:r>
              <a:rPr lang="en-IN" dirty="0"/>
              <a:t>:</a:t>
            </a:r>
          </a:p>
          <a:p>
            <a:r>
              <a:rPr lang="en-IN" dirty="0">
                <a:solidFill>
                  <a:srgbClr val="0070C0"/>
                </a:solidFill>
              </a:rPr>
              <a:t>https://www.linkedin.com/in/manishankar-edamala-59660a290</a:t>
            </a:r>
          </a:p>
        </p:txBody>
      </p:sp>
      <p:sp>
        <p:nvSpPr>
          <p:cNvPr id="7" name="TextBox 6">
            <a:extLst>
              <a:ext uri="{FF2B5EF4-FFF2-40B4-BE49-F238E27FC236}">
                <a16:creationId xmlns:a16="http://schemas.microsoft.com/office/drawing/2014/main" id="{4D9E1687-5DD9-F28C-3BAE-4C719B7195DC}"/>
              </a:ext>
            </a:extLst>
          </p:cNvPr>
          <p:cNvSpPr txBox="1"/>
          <p:nvPr/>
        </p:nvSpPr>
        <p:spPr>
          <a:xfrm>
            <a:off x="9173497" y="1267928"/>
            <a:ext cx="2182762" cy="2462213"/>
          </a:xfrm>
          <a:prstGeom prst="rect">
            <a:avLst/>
          </a:prstGeom>
          <a:noFill/>
        </p:spPr>
        <p:txBody>
          <a:bodyPr wrap="square" rtlCol="0">
            <a:spAutoFit/>
          </a:bodyPr>
          <a:lstStyle/>
          <a:p>
            <a:r>
              <a:rPr lang="en-US" b="1" dirty="0"/>
              <a:t>Karthik Koneni</a:t>
            </a:r>
          </a:p>
          <a:p>
            <a:endParaRPr lang="en-US" dirty="0"/>
          </a:p>
          <a:p>
            <a:r>
              <a:rPr lang="en-IN" b="1" dirty="0"/>
              <a:t>Background</a:t>
            </a:r>
            <a:r>
              <a:rPr lang="en-IN" dirty="0"/>
              <a:t>:B.Tech</a:t>
            </a:r>
          </a:p>
          <a:p>
            <a:endParaRPr lang="en-IN" dirty="0"/>
          </a:p>
          <a:p>
            <a:endParaRPr lang="en-IN" dirty="0"/>
          </a:p>
          <a:p>
            <a:r>
              <a:rPr lang="en-IN" b="1" dirty="0"/>
              <a:t>Experience</a:t>
            </a:r>
            <a:r>
              <a:rPr lang="en-IN" dirty="0"/>
              <a:t>:Fresher</a:t>
            </a:r>
          </a:p>
          <a:p>
            <a:endParaRPr lang="en-IN" dirty="0"/>
          </a:p>
          <a:p>
            <a:endParaRPr lang="en-IN" dirty="0"/>
          </a:p>
          <a:p>
            <a:r>
              <a:rPr lang="en-IN" b="1" dirty="0"/>
              <a:t>LinkedIn</a:t>
            </a:r>
            <a:r>
              <a:rPr lang="en-IN" dirty="0"/>
              <a:t>:</a:t>
            </a:r>
          </a:p>
          <a:p>
            <a:r>
              <a:rPr lang="en-IN" dirty="0">
                <a:solidFill>
                  <a:srgbClr val="0070C0"/>
                </a:solidFill>
              </a:rPr>
              <a:t>https://www.linkedin.com/in/karthikkoneni</a:t>
            </a:r>
            <a:endParaRPr lang="en-US" dirty="0">
              <a:solidFill>
                <a:srgbClr val="0070C0"/>
              </a:solidFill>
            </a:endParaRPr>
          </a:p>
        </p:txBody>
      </p:sp>
    </p:spTree>
    <p:extLst>
      <p:ext uri="{BB962C8B-B14F-4D97-AF65-F5344CB8AC3E}">
        <p14:creationId xmlns:p14="http://schemas.microsoft.com/office/powerpoint/2010/main" val="1862484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85213E-79A2-E8AE-03A0-F94AF9F99251}"/>
              </a:ext>
            </a:extLst>
          </p:cNvPr>
          <p:cNvSpPr txBox="1"/>
          <p:nvPr/>
        </p:nvSpPr>
        <p:spPr>
          <a:xfrm>
            <a:off x="206477" y="373625"/>
            <a:ext cx="11779046" cy="6432530"/>
          </a:xfrm>
          <a:prstGeom prst="rect">
            <a:avLst/>
          </a:prstGeom>
          <a:noFill/>
        </p:spPr>
        <p:txBody>
          <a:bodyPr wrap="square" rtlCol="0">
            <a:spAutoFit/>
          </a:bodyPr>
          <a:lstStyle/>
          <a:p>
            <a:r>
              <a:rPr lang="en-IN" b="1" dirty="0">
                <a:solidFill>
                  <a:srgbClr val="FF0000"/>
                </a:solidFill>
              </a:rPr>
              <a:t> </a:t>
            </a:r>
            <a:r>
              <a:rPr lang="en-IN" sz="2000" b="1" dirty="0">
                <a:solidFill>
                  <a:srgbClr val="FF0000"/>
                </a:solidFill>
                <a:latin typeface="Times New Roman" panose="02020603050405020304" pitchFamily="18" charset="0"/>
                <a:cs typeface="Times New Roman" panose="02020603050405020304" pitchFamily="18" charset="0"/>
              </a:rPr>
              <a:t>TABLE OF CONTENTS</a:t>
            </a:r>
          </a:p>
          <a:p>
            <a:endParaRPr lang="en-IN" b="1" dirty="0">
              <a:solidFill>
                <a:srgbClr val="FF0000"/>
              </a:solidFill>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Introduction </a:t>
            </a:r>
          </a:p>
          <a:p>
            <a:pPr lvl="0" fontAlgn="base"/>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Why This Project</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Dataset Information</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Database &amp; Tables Overview</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Table Structure Explanation</a:t>
            </a:r>
          </a:p>
          <a:p>
            <a:pPr lvl="0" fontAlgn="base"/>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ER Diagram / Relationships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Problem Statement</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SQL Queries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Query Results / Outputs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Insights (Business Understanding)</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Conclusion (Include Insights Summary, Recommendations, and Challenges Faced)</a:t>
            </a:r>
          </a:p>
        </p:txBody>
      </p:sp>
    </p:spTree>
    <p:extLst>
      <p:ext uri="{BB962C8B-B14F-4D97-AF65-F5344CB8AC3E}">
        <p14:creationId xmlns:p14="http://schemas.microsoft.com/office/powerpoint/2010/main" val="41098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BBDF27-39AA-A5E0-6666-F1D1F39E7A85}"/>
              </a:ext>
            </a:extLst>
          </p:cNvPr>
          <p:cNvSpPr txBox="1"/>
          <p:nvPr/>
        </p:nvSpPr>
        <p:spPr>
          <a:xfrm>
            <a:off x="294968" y="294968"/>
            <a:ext cx="11897032" cy="5724644"/>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PROJECT OVERVIEW</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The project Uses Retail Banking SQL Business Analytics</a:t>
            </a:r>
            <a:r>
              <a:rPr lang="en-IN" sz="1600" dirty="0">
                <a:latin typeface="Times New Roman" panose="02020603050405020304" pitchFamily="18" charset="0"/>
                <a:cs typeface="Times New Roman" panose="02020603050405020304" pitchFamily="18" charset="0"/>
              </a:rPr>
              <a:t> is a MySQL-based data analytics project designed to analyze customer, account, transaction, loan, and card-related data of a retail bank.</a:t>
            </a:r>
          </a:p>
          <a:p>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The analysis covers five major business areas:</a:t>
            </a:r>
          </a:p>
          <a:p>
            <a:endParaRPr lang="en-IN" sz="1600" b="1"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 Profile &amp; Segmentation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 Usage &amp; Branch Activity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Transaction Patterns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Loan Performance &amp; Repayment Behaviour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Card Usage &amp; Product Engagement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Key Insight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project follows a structured process of </a:t>
            </a:r>
            <a:r>
              <a:rPr lang="en-IN" sz="1600" b="1" dirty="0">
                <a:latin typeface="Times New Roman" panose="02020603050405020304" pitchFamily="18" charset="0"/>
                <a:cs typeface="Times New Roman" panose="02020603050405020304" pitchFamily="18" charset="0"/>
              </a:rPr>
              <a:t>database creation from the ER diagram, data import and verification, SQL-based analysis, business-question formulation, findings, insights, and recommendations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851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57882" y="725244"/>
            <a:ext cx="11076236" cy="5816937"/>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Retail Banking generates large volume of transaction data every day .</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Retail Bank Transaction Analysis focuses on analyzing customer banking transactions to understand spending,patterns,transactions behaviour and financial trends.</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This project mainly  uses SQL  and data analytics techniques to examine deposits,withdrawls,transfers,transaction volumes and customer activity.</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It helps identify high- value customers, unusual transactions,popular transactions.</a:t>
            </a:r>
          </a:p>
          <a:p>
            <a:pPr marL="285750" lvl="0" indent="-285750">
              <a:buClr>
                <a:schemeClr val="dk1"/>
              </a:buClr>
              <a:buSzPts val="2400"/>
              <a:buFont typeface="Wingdings" panose="05000000000000000000" pitchFamily="2" charset="2"/>
              <a:buChar char="Ø"/>
            </a:pPr>
            <a:endPar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Customer profiles and segmentation</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Account usage and balances</a:t>
            </a:r>
          </a:p>
          <a:p>
            <a:pPr lvl="0">
              <a:buClr>
                <a:schemeClr val="dk1"/>
              </a:buClr>
              <a:buSzPts val="2400"/>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Banking transactions</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Branch performance</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Loan portfolio and repayment behavior</a:t>
            </a:r>
          </a:p>
          <a:p>
            <a:pPr lvl="0">
              <a:buClr>
                <a:schemeClr val="dk1"/>
              </a:buClr>
              <a:buSzPts val="2400"/>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Card usage and Customer banking-product adoption</a:t>
            </a:r>
          </a:p>
          <a:p>
            <a:pPr marL="285750" lvl="0" indent="-285750">
              <a:buClr>
                <a:schemeClr val="dk1"/>
              </a:buClr>
              <a:buSzPts val="2400"/>
              <a:buFont typeface="Wingdings" panose="05000000000000000000" pitchFamily="2" charset="2"/>
              <a:buChar char="Ø"/>
            </a:pPr>
            <a:endParaRPr lang="en-US" sz="1800" dirty="0">
              <a:solidFill>
                <a:schemeClr val="dk1"/>
              </a:solidFill>
              <a:latin typeface="Calibri"/>
              <a:ea typeface="Calibri"/>
              <a:cs typeface="Calibri"/>
              <a:sym typeface="Calibri"/>
            </a:endParaRPr>
          </a:p>
          <a:p>
            <a:pPr marL="285750" lvl="0" indent="-285750">
              <a:buClr>
                <a:schemeClr val="dk1"/>
              </a:buClr>
              <a:buSzPts val="2400"/>
              <a:buFont typeface="Wingdings" panose="05000000000000000000" pitchFamily="2" charset="2"/>
              <a:buChar char="Ø"/>
            </a:pPr>
            <a:endParaRPr sz="1800"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172714"/>
            <a:ext cx="6099600" cy="437002"/>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INTRODUCTION</a:t>
            </a:r>
            <a:endParaRPr sz="2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BF4621-9FE1-48E6-724C-B75C60F8584E}"/>
              </a:ext>
            </a:extLst>
          </p:cNvPr>
          <p:cNvSpPr txBox="1"/>
          <p:nvPr/>
        </p:nvSpPr>
        <p:spPr>
          <a:xfrm>
            <a:off x="664464" y="0"/>
            <a:ext cx="11058144" cy="7263527"/>
          </a:xfrm>
          <a:prstGeom prst="rect">
            <a:avLst/>
          </a:prstGeom>
          <a:noFill/>
        </p:spPr>
        <p:txBody>
          <a:bodyPr wrap="square" rtlCol="0">
            <a:spAutoFit/>
          </a:bodyPr>
          <a:lstStyle/>
          <a:p>
            <a:pPr algn="just"/>
            <a:r>
              <a:rPr lang="en-US" sz="1600"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WHY THIS PROJECT?</a:t>
            </a:r>
          </a:p>
          <a:p>
            <a:r>
              <a:rPr lang="en-IN" sz="1800" b="1" dirty="0">
                <a:solidFill>
                  <a:srgbClr val="FF0000"/>
                </a:solidFill>
                <a:latin typeface="Times New Roman" panose="02020603050405020304" pitchFamily="18" charset="0"/>
                <a:cs typeface="Times New Roman" panose="02020603050405020304" pitchFamily="18" charset="0"/>
              </a:rPr>
              <a:t>BUSINESS PROBLEM</a:t>
            </a:r>
            <a:endParaRPr lang="en-IN" sz="16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Banks generate large volumes of customers,accounts,transactions,loan and card data.</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This challenge is converting this  raw data into useful business information.</a:t>
            </a:r>
          </a:p>
          <a:p>
            <a:endParaRPr lang="en-IN" sz="1600" dirty="0">
              <a:solidFill>
                <a:schemeClr val="tx1"/>
              </a:solidFill>
              <a:latin typeface="Times New Roman" panose="02020603050405020304" pitchFamily="18" charset="0"/>
              <a:cs typeface="Times New Roman" panose="02020603050405020304" pitchFamily="18" charset="0"/>
            </a:endParaRPr>
          </a:p>
          <a:p>
            <a:r>
              <a:rPr lang="en-IN" sz="1800" b="1" dirty="0">
                <a:solidFill>
                  <a:srgbClr val="FF0000"/>
                </a:solidFill>
                <a:latin typeface="Times New Roman" panose="02020603050405020304" pitchFamily="18" charset="0"/>
                <a:cs typeface="Times New Roman" panose="02020603050405020304" pitchFamily="18" charset="0"/>
              </a:rPr>
              <a:t>BANK NEED TO UNDERSTAND</a:t>
            </a:r>
          </a:p>
          <a:p>
            <a:r>
              <a:rPr lang="en-IN" sz="1800" b="1" dirty="0">
                <a:solidFill>
                  <a:srgbClr val="FF0000"/>
                </a:solidFill>
                <a:latin typeface="Times New Roman" panose="02020603050405020304" pitchFamily="18" charset="0"/>
                <a:cs typeface="Times New Roman" panose="02020603050405020304" pitchFamily="18" charset="0"/>
              </a:rPr>
              <a:t>Customers</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Who are the major customer segments?</a:t>
            </a:r>
          </a:p>
          <a:p>
            <a:endParaRPr lang="en-IN" sz="1600" dirty="0">
              <a:solidFill>
                <a:schemeClr val="tx1"/>
              </a:solidFill>
              <a:latin typeface="Times New Roman" panose="02020603050405020304" pitchFamily="18" charset="0"/>
              <a:cs typeface="Times New Roman" panose="02020603050405020304" pitchFamily="18" charset="0"/>
            </a:endParaRPr>
          </a:p>
          <a:p>
            <a:r>
              <a:rPr lang="en-IN" sz="1800" b="1" dirty="0">
                <a:solidFill>
                  <a:srgbClr val="FF0000"/>
                </a:solidFill>
                <a:latin typeface="Times New Roman" panose="02020603050405020304" pitchFamily="18" charset="0"/>
                <a:cs typeface="Times New Roman" panose="02020603050405020304" pitchFamily="18" charset="0"/>
              </a:rPr>
              <a:t>Products</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Which accounts , cards and loans are being used?</a:t>
            </a:r>
          </a:p>
          <a:p>
            <a:endParaRPr lang="en-IN" sz="1600" dirty="0">
              <a:solidFill>
                <a:schemeClr val="tx1"/>
              </a:solidFill>
              <a:latin typeface="Times New Roman" panose="02020603050405020304" pitchFamily="18" charset="0"/>
              <a:cs typeface="Times New Roman" panose="02020603050405020304" pitchFamily="18" charset="0"/>
            </a:endParaRPr>
          </a:p>
          <a:p>
            <a:r>
              <a:rPr lang="en-IN" sz="1800" b="1" dirty="0">
                <a:solidFill>
                  <a:srgbClr val="FF0000"/>
                </a:solidFill>
                <a:latin typeface="Times New Roman" panose="02020603050405020304" pitchFamily="18" charset="0"/>
                <a:cs typeface="Times New Roman" panose="02020603050405020304" pitchFamily="18" charset="0"/>
              </a:rPr>
              <a:t>Transactions</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How are customers moving money through the banking system?</a:t>
            </a:r>
          </a:p>
          <a:p>
            <a:endParaRPr lang="en-IN" sz="1600" dirty="0">
              <a:solidFill>
                <a:schemeClr val="tx1"/>
              </a:solidFill>
              <a:latin typeface="Times New Roman" panose="02020603050405020304" pitchFamily="18" charset="0"/>
              <a:cs typeface="Times New Roman" panose="02020603050405020304" pitchFamily="18" charset="0"/>
            </a:endParaRPr>
          </a:p>
          <a:p>
            <a:r>
              <a:rPr lang="en-IN" sz="1800" b="1" dirty="0">
                <a:solidFill>
                  <a:srgbClr val="FF0000"/>
                </a:solidFill>
                <a:latin typeface="Times New Roman" panose="02020603050405020304" pitchFamily="18" charset="0"/>
                <a:cs typeface="Times New Roman" panose="02020603050405020304" pitchFamily="18" charset="0"/>
              </a:rPr>
              <a:t>Loans</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Are customers repaying loans on time?</a:t>
            </a:r>
          </a:p>
          <a:p>
            <a:endParaRPr lang="en-IN" sz="1600" dirty="0">
              <a:solidFill>
                <a:schemeClr val="tx1"/>
              </a:solidFill>
              <a:latin typeface="Times New Roman" panose="02020603050405020304" pitchFamily="18" charset="0"/>
              <a:cs typeface="Times New Roman" panose="02020603050405020304" pitchFamily="18" charset="0"/>
            </a:endParaRPr>
          </a:p>
          <a:p>
            <a:r>
              <a:rPr lang="en-IN" sz="1800" b="1" dirty="0">
                <a:solidFill>
                  <a:srgbClr val="FF0000"/>
                </a:solidFill>
                <a:latin typeface="Times New Roman" panose="02020603050405020304" pitchFamily="18" charset="0"/>
                <a:cs typeface="Times New Roman" panose="02020603050405020304" pitchFamily="18" charset="0"/>
              </a:rPr>
              <a:t>Branches</a:t>
            </a:r>
          </a:p>
          <a:p>
            <a:endParaRPr lang="en-IN" sz="16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How does activity differ across brances?</a:t>
            </a:r>
          </a:p>
          <a:p>
            <a:endParaRPr lang="en-IN" sz="1600" dirty="0">
              <a:solidFill>
                <a:schemeClr val="tx1"/>
              </a:solidFill>
            </a:endParaRPr>
          </a:p>
          <a:p>
            <a:endParaRPr lang="en-IN" sz="1600" dirty="0">
              <a:solidFill>
                <a:schemeClr val="tx1"/>
              </a:solidFill>
            </a:endParaRPr>
          </a:p>
        </p:txBody>
      </p:sp>
    </p:spTree>
    <p:extLst>
      <p:ext uri="{BB962C8B-B14F-4D97-AF65-F5344CB8AC3E}">
        <p14:creationId xmlns:p14="http://schemas.microsoft.com/office/powerpoint/2010/main" val="3719270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45048" y="0"/>
            <a:ext cx="10515600" cy="78028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sz="2400" b="1" dirty="0">
                <a:solidFill>
                  <a:srgbClr val="FF0000"/>
                </a:solidFill>
                <a:latin typeface="Times New Roman" panose="02020603050405020304" pitchFamily="18" charset="0"/>
                <a:cs typeface="Times New Roman" panose="02020603050405020304" pitchFamily="18" charset="0"/>
              </a:rPr>
              <a:t>PROJECT OBJECTIVES</a:t>
            </a:r>
            <a:endParaRPr sz="24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0" y="780288"/>
            <a:ext cx="12192000" cy="5754624"/>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IN" sz="2600" b="1" dirty="0">
                <a:solidFill>
                  <a:srgbClr val="FF0000"/>
                </a:solidFill>
                <a:latin typeface="Times New Roman" panose="02020603050405020304" pitchFamily="18" charset="0"/>
                <a:cs typeface="Times New Roman" panose="02020603050405020304" pitchFamily="18" charset="0"/>
              </a:rPr>
              <a:t>Key Objectives</a:t>
            </a:r>
          </a:p>
          <a:p>
            <a:pPr marL="114300" indent="0">
              <a:buNone/>
            </a:pPr>
            <a:endParaRPr lang="en-IN" sz="1800" b="1" dirty="0">
              <a:solidFill>
                <a:srgbClr val="FF0000"/>
              </a:solidFill>
              <a:latin typeface="Times New Roman" panose="02020603050405020304" pitchFamily="18" charset="0"/>
              <a:cs typeface="Times New Roman" panose="02020603050405020304" pitchFamily="18" charset="0"/>
            </a:endParaRPr>
          </a:p>
          <a:p>
            <a:pPr marL="114300" indent="0">
              <a:buNone/>
            </a:pPr>
            <a:r>
              <a:rPr lang="en-IN" sz="1700" dirty="0">
                <a:solidFill>
                  <a:srgbClr val="FF0000"/>
                </a:solidFill>
                <a:latin typeface="Times New Roman" panose="02020603050405020304" pitchFamily="18" charset="0"/>
                <a:cs typeface="Times New Roman" panose="02020603050405020304" pitchFamily="18" charset="0"/>
              </a:rPr>
              <a:t>1.Customer Analytics</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Analyze customer demographics and segmentation</a:t>
            </a:r>
          </a:p>
          <a:p>
            <a:pPr marL="114300" lvl="0" indent="0">
              <a:buNone/>
            </a:pPr>
            <a:r>
              <a:rPr lang="en-IN" sz="1700" dirty="0">
                <a:solidFill>
                  <a:srgbClr val="FF0000"/>
                </a:solidFill>
                <a:latin typeface="Times New Roman" panose="02020603050405020304" pitchFamily="18" charset="0"/>
                <a:cs typeface="Times New Roman" panose="02020603050405020304" pitchFamily="18" charset="0"/>
              </a:rPr>
              <a:t>2.Account Analytics</a:t>
            </a:r>
            <a:endParaRPr lang="en-IN" sz="17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Understand account distribution and balances </a:t>
            </a:r>
          </a:p>
          <a:p>
            <a:pPr marL="114300" lvl="0" indent="0">
              <a:buNone/>
            </a:pPr>
            <a:r>
              <a:rPr lang="en-IN" sz="1700" dirty="0">
                <a:solidFill>
                  <a:srgbClr val="FF0000"/>
                </a:solidFill>
                <a:latin typeface="Times New Roman" panose="02020603050405020304" pitchFamily="18" charset="0"/>
                <a:cs typeface="Times New Roman" panose="02020603050405020304" pitchFamily="18" charset="0"/>
              </a:rPr>
              <a:t>3.Transaction Analytics</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Identify transaction patterns </a:t>
            </a:r>
          </a:p>
          <a:p>
            <a:pPr marL="114300" lvl="0" indent="0">
              <a:buNone/>
            </a:pPr>
            <a:r>
              <a:rPr lang="en-IN" sz="1700" dirty="0">
                <a:solidFill>
                  <a:srgbClr val="FF0000"/>
                </a:solidFill>
                <a:latin typeface="Times New Roman" panose="02020603050405020304" pitchFamily="18" charset="0"/>
                <a:cs typeface="Times New Roman" panose="02020603050405020304" pitchFamily="18" charset="0"/>
              </a:rPr>
              <a:t>4.Branch Analytics</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Evaluate branch performance </a:t>
            </a:r>
          </a:p>
          <a:p>
            <a:pPr marL="114300" lvl="0" indent="0">
              <a:buNone/>
            </a:pPr>
            <a:r>
              <a:rPr lang="en-IN" sz="1700" dirty="0">
                <a:solidFill>
                  <a:srgbClr val="FF0000"/>
                </a:solidFill>
                <a:latin typeface="Times New Roman" panose="02020603050405020304" pitchFamily="18" charset="0"/>
                <a:cs typeface="Times New Roman" panose="02020603050405020304" pitchFamily="18" charset="0"/>
              </a:rPr>
              <a:t>5.Loan Analytics</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Analyze loan performance and repayment behavior </a:t>
            </a:r>
          </a:p>
          <a:p>
            <a:pPr marL="114300" lvl="0" indent="0">
              <a:buNone/>
            </a:pPr>
            <a:r>
              <a:rPr lang="en-IN" sz="1700" dirty="0">
                <a:solidFill>
                  <a:srgbClr val="FF0000"/>
                </a:solidFill>
                <a:latin typeface="Times New Roman" panose="02020603050405020304" pitchFamily="18" charset="0"/>
                <a:cs typeface="Times New Roman" panose="02020603050405020304" pitchFamily="18" charset="0"/>
              </a:rPr>
              <a:t>6.Card Analytics</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Examine card usage </a:t>
            </a:r>
          </a:p>
          <a:p>
            <a:pPr lvl="0">
              <a:buFont typeface="Wingdings" panose="05000000000000000000" pitchFamily="2" charset="2"/>
              <a:buChar char="Ø"/>
            </a:pPr>
            <a:endParaRPr lang="en-IN" sz="17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Identify customers with multiple banking products </a:t>
            </a:r>
          </a:p>
          <a:p>
            <a:pPr lvl="0">
              <a:buFont typeface="Wingdings" panose="05000000000000000000" pitchFamily="2" charset="2"/>
              <a:buChar char="Ø"/>
            </a:pPr>
            <a:r>
              <a:rPr lang="en-IN" sz="1700" dirty="0">
                <a:latin typeface="Times New Roman" panose="02020603050405020304" pitchFamily="18" charset="0"/>
                <a:cs typeface="Times New Roman" panose="02020603050405020304" pitchFamily="18" charset="0"/>
              </a:rPr>
              <a:t>Generate actionable business insights using SQL</a:t>
            </a:r>
          </a:p>
          <a:p>
            <a:pPr marL="25400" lvl="0" indent="0" algn="l" rtl="0">
              <a:lnSpc>
                <a:spcPct val="90000"/>
              </a:lnSpc>
              <a:spcBef>
                <a:spcPts val="1000"/>
              </a:spcBef>
              <a:spcAft>
                <a:spcPts val="0"/>
              </a:spcAft>
              <a:buSzPts val="2400"/>
              <a:buNone/>
            </a:pPr>
            <a:endParaRPr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BDB34-4FBE-0CBB-8539-E5EF8B44B864}"/>
              </a:ext>
            </a:extLst>
          </p:cNvPr>
          <p:cNvSpPr txBox="1"/>
          <p:nvPr/>
        </p:nvSpPr>
        <p:spPr>
          <a:xfrm>
            <a:off x="427703" y="0"/>
            <a:ext cx="11336594" cy="6386364"/>
          </a:xfrm>
          <a:prstGeom prst="rect">
            <a:avLst/>
          </a:prstGeom>
          <a:noFill/>
        </p:spPr>
        <p:txBody>
          <a:bodyPr wrap="square" rtlCol="0">
            <a:spAutoFit/>
          </a:bodyPr>
          <a:lstStyle/>
          <a:p>
            <a:r>
              <a:rPr lang="en-US" sz="1800" b="1" dirty="0">
                <a:solidFill>
                  <a:srgbClr val="FF0000"/>
                </a:solidFill>
                <a:latin typeface="Times New Roman" panose="02020603050405020304" pitchFamily="18" charset="0"/>
                <a:cs typeface="Times New Roman" panose="02020603050405020304" pitchFamily="18" charset="0"/>
              </a:rPr>
              <a:t>                                             DATASET &amp; DATABASE OVERVIEW</a:t>
            </a:r>
          </a:p>
          <a:p>
            <a:r>
              <a:rPr lang="en-US" sz="1800" dirty="0">
                <a:solidFill>
                  <a:srgbClr val="FF0000"/>
                </a:solidFill>
                <a:latin typeface="Times New Roman" panose="02020603050405020304" pitchFamily="18" charset="0"/>
                <a:cs typeface="Times New Roman" panose="02020603050405020304" pitchFamily="18" charset="0"/>
              </a:rPr>
              <a:t>                                                                                                                                      </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Database : retail_banking analysis</a:t>
            </a:r>
          </a:p>
          <a:p>
            <a:endParaRPr lang="en-US" sz="1800" dirty="0">
              <a:solidFill>
                <a:srgbClr val="FF0000"/>
              </a:solidFill>
              <a:latin typeface="Times New Roman" panose="02020603050405020304" pitchFamily="18" charset="0"/>
              <a:cs typeface="Times New Roman" panose="02020603050405020304" pitchFamily="18" charset="0"/>
            </a:endParaRPr>
          </a:p>
          <a:p>
            <a:r>
              <a:rPr lang="en-US" sz="1800" b="1" dirty="0">
                <a:solidFill>
                  <a:srgbClr val="FF0000"/>
                </a:solidFill>
                <a:latin typeface="Times New Roman" panose="02020603050405020304" pitchFamily="18" charset="0"/>
                <a:cs typeface="Times New Roman" panose="02020603050405020304" pitchFamily="18" charset="0"/>
              </a:rPr>
              <a:t>Dataset Overview                                                                                                         </a:t>
            </a:r>
            <a:endParaRPr 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The Dataset contains:                                                                                                   </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500 Customers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Bank customers their demography, financial and bank details.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700 Bank Accounts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Stores information about customer bank accounts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 Branches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Stores information about different bank branches.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300 Loans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Stores information about loans taken by customers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600 Cards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Information about banking cards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5000 Transactions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Banking activities performed by customers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800" b="1" dirty="0">
                <a:solidFill>
                  <a:srgbClr val="FF0000"/>
                </a:solidFill>
                <a:latin typeface="Times New Roman" panose="02020603050405020304" pitchFamily="18" charset="0"/>
                <a:cs typeface="Times New Roman" panose="02020603050405020304" pitchFamily="18" charset="0"/>
              </a:rPr>
              <a:t>Database Overview </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800" dirty="0">
                <a:solidFill>
                  <a:srgbClr val="FF0000"/>
                </a:solidFill>
                <a:latin typeface="Times New Roman" panose="02020603050405020304" pitchFamily="18" charset="0"/>
                <a:cs typeface="Times New Roman" panose="02020603050405020304" pitchFamily="18" charset="0"/>
              </a:rPr>
              <a:t>                                                                                                   </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These are main tables :</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Customers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Accounts                  </a:t>
            </a:r>
          </a:p>
          <a:p>
            <a:pPr marL="285750" indent="-285750">
              <a:lnSpc>
                <a:spcPct val="150000"/>
              </a:lnSpc>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Branches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Loans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Loan Payments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Cards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Transactions</a:t>
            </a:r>
          </a:p>
          <a:p>
            <a:endParaRPr lang="en-IN" sz="1800" dirty="0">
              <a:solidFill>
                <a:srgbClr val="FF0000"/>
              </a:solidFill>
            </a:endParaRPr>
          </a:p>
        </p:txBody>
      </p:sp>
    </p:spTree>
    <p:extLst>
      <p:ext uri="{BB962C8B-B14F-4D97-AF65-F5344CB8AC3E}">
        <p14:creationId xmlns:p14="http://schemas.microsoft.com/office/powerpoint/2010/main" val="269099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a:extLst>
              <a:ext uri="{FF2B5EF4-FFF2-40B4-BE49-F238E27FC236}">
                <a16:creationId xmlns:a16="http://schemas.microsoft.com/office/drawing/2014/main" id="{D329EF31-67D7-B6FA-1786-CBD50C33F14E}"/>
              </a:ext>
            </a:extLst>
          </p:cNvPr>
          <p:cNvPicPr/>
          <p:nvPr/>
        </p:nvPicPr>
        <p:blipFill>
          <a:blip r:embed="rId2"/>
          <a:srcRect/>
          <a:stretch>
            <a:fillRect/>
          </a:stretch>
        </p:blipFill>
        <p:spPr>
          <a:xfrm>
            <a:off x="5664855" y="1073150"/>
            <a:ext cx="6309360" cy="4711700"/>
          </a:xfrm>
          <a:prstGeom prst="rect">
            <a:avLst/>
          </a:prstGeom>
          <a:ln/>
        </p:spPr>
      </p:pic>
      <p:sp>
        <p:nvSpPr>
          <p:cNvPr id="5" name="TextBox 4">
            <a:extLst>
              <a:ext uri="{FF2B5EF4-FFF2-40B4-BE49-F238E27FC236}">
                <a16:creationId xmlns:a16="http://schemas.microsoft.com/office/drawing/2014/main" id="{70EA981C-F49B-6661-124A-394D2E0E99CC}"/>
              </a:ext>
            </a:extLst>
          </p:cNvPr>
          <p:cNvSpPr txBox="1"/>
          <p:nvPr/>
        </p:nvSpPr>
        <p:spPr>
          <a:xfrm>
            <a:off x="3349358" y="127819"/>
            <a:ext cx="4630994" cy="400110"/>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ER  DIAGRAM &amp; Database Structure</a:t>
            </a:r>
            <a:endParaRPr lang="en-IN" sz="2000" b="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F5CA00B-6603-55CE-1948-2B3095747DF9}"/>
              </a:ext>
            </a:extLst>
          </p:cNvPr>
          <p:cNvSpPr txBox="1"/>
          <p:nvPr/>
        </p:nvSpPr>
        <p:spPr>
          <a:xfrm>
            <a:off x="303246" y="866604"/>
            <a:ext cx="4917683" cy="575542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Key Relationships</a:t>
            </a:r>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Customers → Accounts</a:t>
            </a:r>
          </a:p>
          <a:p>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Branches → Accounts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Branches → Loans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Customers → Loans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Loans → Loan Payments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Accounts → Cards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Accounts → Transactions</a:t>
            </a:r>
          </a:p>
          <a:p>
            <a:endParaRPr lang="en-IN" sz="1600" dirty="0"/>
          </a:p>
          <a:p>
            <a:r>
              <a:rPr lang="en-IN" sz="1600" b="1" dirty="0">
                <a:latin typeface="Times New Roman" panose="02020603050405020304" pitchFamily="18" charset="0"/>
                <a:cs typeface="Times New Roman" panose="02020603050405020304" pitchFamily="18" charset="0"/>
              </a:rPr>
              <a:t>Key Insight :</a:t>
            </a:r>
          </a:p>
          <a:p>
            <a:endParaRPr lang="en-IN" sz="1600" dirty="0"/>
          </a:p>
          <a:p>
            <a:r>
              <a:rPr lang="en-IN" sz="1600" dirty="0">
                <a:latin typeface="Times New Roman" panose="02020603050405020304" pitchFamily="18" charset="0"/>
                <a:cs typeface="Times New Roman" panose="02020603050405020304" pitchFamily="18" charset="0"/>
              </a:rPr>
              <a:t>The ER model integrates customer, account, transaction, card, loan, branch, and repayment data  relationships, enabling comprehensive analysis of customer behaviour and banking product engagement</a:t>
            </a:r>
          </a:p>
          <a:p>
            <a:pPr marL="285750" indent="-285750">
              <a:buFont typeface="Arial" panose="020B0604020202020204" pitchFamily="34" charset="0"/>
              <a:buChar char="•"/>
            </a:pPr>
            <a:endParaRPr lang="en-US" sz="1600" b="1" dirty="0"/>
          </a:p>
        </p:txBody>
      </p:sp>
    </p:spTree>
    <p:extLst>
      <p:ext uri="{BB962C8B-B14F-4D97-AF65-F5344CB8AC3E}">
        <p14:creationId xmlns:p14="http://schemas.microsoft.com/office/powerpoint/2010/main" val="2627513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8EF5B9-BC1A-37B1-F9EB-95AD0BF8A9B2}"/>
              </a:ext>
            </a:extLst>
          </p:cNvPr>
          <p:cNvSpPr txBox="1"/>
          <p:nvPr/>
        </p:nvSpPr>
        <p:spPr>
          <a:xfrm>
            <a:off x="304800" y="196646"/>
            <a:ext cx="11582400" cy="5693866"/>
          </a:xfrm>
          <a:prstGeom prst="rect">
            <a:avLst/>
          </a:prstGeom>
          <a:noFill/>
        </p:spPr>
        <p:txBody>
          <a:bodyPr wrap="square" rtlCol="0">
            <a:spAutoFit/>
          </a:bodyPr>
          <a:lstStyle/>
          <a:p>
            <a:r>
              <a:rPr lang="en-US" sz="1600" b="1" dirty="0">
                <a:solidFill>
                  <a:srgbClr val="FF0000"/>
                </a:solidFill>
                <a:latin typeface="Times New Roman" panose="02020603050405020304" pitchFamily="18" charset="0"/>
                <a:cs typeface="Times New Roman" panose="02020603050405020304" pitchFamily="18" charset="0"/>
              </a:rPr>
              <a:t>SQL QUERIES :</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Customer Segment Analysis</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Which customer segment has the highest number of customers?</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 :</a:t>
            </a:r>
            <a:endParaRPr lang="en-IN" b="1"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SELECT segment, COUNT(customer_id) AS total_customers FROM customers  GROUP BY segment</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ORDER BY total_customers DESC;</a:t>
            </a:r>
          </a:p>
          <a:p>
            <a:endParaRPr lang="en-US" dirty="0">
              <a:solidFill>
                <a:srgbClr val="00B0F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Student is the largest customer segment with 100 customers.             </a:t>
            </a:r>
            <a:endParaRPr lang="en-IN" dirty="0">
              <a:latin typeface="Times New Roman" panose="02020603050405020304" pitchFamily="18" charset="0"/>
              <a:cs typeface="Times New Roman" panose="02020603050405020304" pitchFamily="18" charset="0"/>
            </a:endParaRPr>
          </a:p>
          <a:p>
            <a:endParaRPr lang="en-US" dirty="0">
              <a:solidFill>
                <a:srgbClr val="00B0F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Students are the largest customer group. The bank can target them with digital banking, low-fee accounts, debit cards, and future loan products.</a:t>
            </a:r>
            <a:endParaRPr lang="en-IN" dirty="0">
              <a:latin typeface="Times New Roman" panose="02020603050405020304" pitchFamily="18" charset="0"/>
              <a:cs typeface="Times New Roman" panose="02020603050405020304" pitchFamily="18" charset="0"/>
            </a:endParaRPr>
          </a:p>
          <a:p>
            <a:endParaRPr lang="en-US" dirty="0">
              <a:solidFill>
                <a:srgbClr val="00B0F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Branch Performance Analysis</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Which branch has the highest number of bank accounts?</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 :</a:t>
            </a:r>
            <a:endParaRPr lang="en-IN" b="1"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SELECT b.branch_id, b.branch_name, COUNT(a.account_id) AS total_accounts FROM branches b JOIN accounts a  b.branch_id=a.branch_id</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GROUP BY b.branch_id, b.branch_name ORDER BY total_accounts DESC LIMIT 1;</a:t>
            </a:r>
            <a:endParaRPr lang="en-IN" dirty="0">
              <a:solidFill>
                <a:srgbClr val="00B0F0"/>
              </a:solidFill>
              <a:latin typeface="Times New Roman" panose="02020603050405020304" pitchFamily="18" charset="0"/>
              <a:cs typeface="Times New Roman" panose="02020603050405020304" pitchFamily="18" charset="0"/>
            </a:endParaRPr>
          </a:p>
          <a:p>
            <a:endParaRPr lang="en-US" dirty="0">
              <a:solidFill>
                <a:srgbClr val="00B0F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Pittsburgh Branch has the highest number of accounts with 28 accounts.      </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bank can study successful practices at this branch and apply them to other branches</a:t>
            </a:r>
            <a:r>
              <a:rPr lang="en-US" dirty="0"/>
              <a:t>.</a:t>
            </a:r>
            <a:endParaRPr lang="en-IN" dirty="0"/>
          </a:p>
          <a:p>
            <a:endParaRPr lang="en-IN" dirty="0"/>
          </a:p>
        </p:txBody>
      </p:sp>
      <p:pic>
        <p:nvPicPr>
          <p:cNvPr id="5" name="Picture 4">
            <a:extLst>
              <a:ext uri="{FF2B5EF4-FFF2-40B4-BE49-F238E27FC236}">
                <a16:creationId xmlns:a16="http://schemas.microsoft.com/office/drawing/2014/main" id="{80E81365-8DB0-9ACC-B3B7-98A91014E509}"/>
              </a:ext>
            </a:extLst>
          </p:cNvPr>
          <p:cNvPicPr>
            <a:picLocks noChangeAspect="1"/>
          </p:cNvPicPr>
          <p:nvPr/>
        </p:nvPicPr>
        <p:blipFill>
          <a:blip r:embed="rId2"/>
          <a:stretch>
            <a:fillRect/>
          </a:stretch>
        </p:blipFill>
        <p:spPr>
          <a:xfrm>
            <a:off x="7384486" y="4345859"/>
            <a:ext cx="3381375" cy="1101212"/>
          </a:xfrm>
          <a:prstGeom prst="rect">
            <a:avLst/>
          </a:prstGeom>
        </p:spPr>
      </p:pic>
      <p:pic>
        <p:nvPicPr>
          <p:cNvPr id="7" name="Picture 6">
            <a:extLst>
              <a:ext uri="{FF2B5EF4-FFF2-40B4-BE49-F238E27FC236}">
                <a16:creationId xmlns:a16="http://schemas.microsoft.com/office/drawing/2014/main" id="{858B0C2D-8222-9DC6-39F6-60250FD3F75A}"/>
              </a:ext>
            </a:extLst>
          </p:cNvPr>
          <p:cNvPicPr>
            <a:picLocks noChangeAspect="1"/>
          </p:cNvPicPr>
          <p:nvPr/>
        </p:nvPicPr>
        <p:blipFill>
          <a:blip r:embed="rId3"/>
          <a:stretch>
            <a:fillRect/>
          </a:stretch>
        </p:blipFill>
        <p:spPr>
          <a:xfrm>
            <a:off x="8874227" y="521111"/>
            <a:ext cx="2171700" cy="1648592"/>
          </a:xfrm>
          <a:prstGeom prst="rect">
            <a:avLst/>
          </a:prstGeom>
        </p:spPr>
      </p:pic>
    </p:spTree>
    <p:extLst>
      <p:ext uri="{BB962C8B-B14F-4D97-AF65-F5344CB8AC3E}">
        <p14:creationId xmlns:p14="http://schemas.microsoft.com/office/powerpoint/2010/main" val="325386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7BE84D-D89A-4442-539D-A1AEB7A650F4}"/>
              </a:ext>
            </a:extLst>
          </p:cNvPr>
          <p:cNvSpPr txBox="1"/>
          <p:nvPr/>
        </p:nvSpPr>
        <p:spPr>
          <a:xfrm>
            <a:off x="235974" y="108156"/>
            <a:ext cx="11749549" cy="655564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 Account Performance Analysis</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Which account type has the highest total balance?</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a:t>
            </a:r>
            <a:r>
              <a:rPr lang="en-IN" b="1" dirty="0">
                <a:latin typeface="Times New Roman" panose="02020603050405020304" pitchFamily="18" charset="0"/>
                <a:cs typeface="Times New Roman" panose="02020603050405020304" pitchFamily="18" charset="0"/>
              </a:rPr>
              <a:t> : </a:t>
            </a:r>
            <a:r>
              <a:rPr lang="en-US" dirty="0">
                <a:solidFill>
                  <a:srgbClr val="00B0F0"/>
                </a:solidFill>
                <a:latin typeface="Times New Roman" panose="02020603050405020304" pitchFamily="18" charset="0"/>
                <a:cs typeface="Times New Roman" panose="02020603050405020304" pitchFamily="18" charset="0"/>
              </a:rPr>
              <a:t>SELECT account_type, ROUND(SUM(current_balance), 2) AS total_balance FROM accounts GROUP BY account_type</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ORDER BY total_balance DESC LIMIT 1;</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IRA accounts hold the highest total balance of 2,894,008.04.   </a:t>
            </a: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IRA accounts are a major source of deposits and show the importance of retirement and long-term investment products.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Card Usage Analysis</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Which card type has the highest number of cards?</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a:t>
            </a:r>
            <a:endParaRPr lang="en-IN" b="1"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SELECT card_type, COUNT(card_id) AS total_cards</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FROM cards </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GROUP BY card_type</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ORDER BY total_cards DESC                                                                                     </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LIMIT 1;</a:t>
            </a:r>
          </a:p>
          <a:p>
            <a:endParaRPr lang="en-IN" dirty="0">
              <a:solidFill>
                <a:srgbClr val="00B0F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Debit cards are the most popular, with 374 cards.</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bank has an opportunity to cross-sell credit cards to eligible customers.</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90BAE6A9-90C6-D1AA-76ED-0337E9C57488}"/>
              </a:ext>
            </a:extLst>
          </p:cNvPr>
          <p:cNvPicPr>
            <a:picLocks noChangeAspect="1"/>
          </p:cNvPicPr>
          <p:nvPr/>
        </p:nvPicPr>
        <p:blipFill>
          <a:blip r:embed="rId2"/>
          <a:stretch>
            <a:fillRect/>
          </a:stretch>
        </p:blipFill>
        <p:spPr>
          <a:xfrm>
            <a:off x="6973529" y="1263508"/>
            <a:ext cx="2590800" cy="971550"/>
          </a:xfrm>
          <a:prstGeom prst="rect">
            <a:avLst/>
          </a:prstGeom>
        </p:spPr>
      </p:pic>
      <p:pic>
        <p:nvPicPr>
          <p:cNvPr id="6" name="Picture 5">
            <a:extLst>
              <a:ext uri="{FF2B5EF4-FFF2-40B4-BE49-F238E27FC236}">
                <a16:creationId xmlns:a16="http://schemas.microsoft.com/office/drawing/2014/main" id="{71EA8818-397A-E325-BD28-0048821B665A}"/>
              </a:ext>
            </a:extLst>
          </p:cNvPr>
          <p:cNvPicPr>
            <a:picLocks noChangeAspect="1"/>
          </p:cNvPicPr>
          <p:nvPr/>
        </p:nvPicPr>
        <p:blipFill>
          <a:blip r:embed="rId3"/>
          <a:stretch>
            <a:fillRect/>
          </a:stretch>
        </p:blipFill>
        <p:spPr>
          <a:xfrm>
            <a:off x="6973529" y="4160980"/>
            <a:ext cx="2590800" cy="923925"/>
          </a:xfrm>
          <a:prstGeom prst="rect">
            <a:avLst/>
          </a:prstGeom>
        </p:spPr>
      </p:pic>
    </p:spTree>
    <p:extLst>
      <p:ext uri="{BB962C8B-B14F-4D97-AF65-F5344CB8AC3E}">
        <p14:creationId xmlns:p14="http://schemas.microsoft.com/office/powerpoint/2010/main" val="786658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ACD765-A550-35E6-BA69-69A32F05EBEB}"/>
              </a:ext>
            </a:extLst>
          </p:cNvPr>
          <p:cNvSpPr txBox="1"/>
          <p:nvPr/>
        </p:nvSpPr>
        <p:spPr>
          <a:xfrm>
            <a:off x="678427" y="147484"/>
            <a:ext cx="11307096" cy="6124754"/>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5. Transaction Analysis</a:t>
            </a:r>
            <a:endParaRPr lang="en-IN" b="1" dirty="0">
              <a:solidFill>
                <a:srgbClr val="FF000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Which transaction channel is used most frequently?</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 :</a:t>
            </a:r>
            <a:endParaRPr lang="en-IN" b="1"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SELECT channel, COUNT(transaction_id) AS total_transactions</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FROM transactions</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GROUP BY channel</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ORDER BY total_transactions DESC</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LIMIT 1;</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Online banking is the most frequently used channel, with 1,470 transactions.</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Customers strongly prefer digital banking, so the bank should continue investing in online platforms, mobile banking, security, and digital customer experience.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6. Loan Repayment &amp; Risk Analysis</a:t>
            </a:r>
            <a:endParaRPr lang="en-IN" b="1" dirty="0">
              <a:solidFill>
                <a:srgbClr val="FF000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Question</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How many loans have experienced at least one repayment delay?</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SQL Query : </a:t>
            </a:r>
            <a:r>
              <a:rPr lang="en-IN" b="1" dirty="0">
                <a:latin typeface="Times New Roman" panose="02020603050405020304" pitchFamily="18" charset="0"/>
                <a:cs typeface="Times New Roman" panose="02020603050405020304" pitchFamily="18" charset="0"/>
              </a:rPr>
              <a:t> </a:t>
            </a:r>
            <a:r>
              <a:rPr lang="en-US" dirty="0">
                <a:solidFill>
                  <a:srgbClr val="00B0F0"/>
                </a:solidFill>
                <a:latin typeface="Times New Roman" panose="02020603050405020304" pitchFamily="18" charset="0"/>
                <a:cs typeface="Times New Roman" panose="02020603050405020304" pitchFamily="18" charset="0"/>
              </a:rPr>
              <a:t>SELECT COUNT(DISTINCT loan_id) AS delayed_loans FROM loan_payments</a:t>
            </a:r>
            <a:br>
              <a:rPr lang="en-US" dirty="0">
                <a:solidFill>
                  <a:srgbClr val="00B0F0"/>
                </a:solidFill>
                <a:latin typeface="Times New Roman" panose="02020603050405020304" pitchFamily="18" charset="0"/>
                <a:cs typeface="Times New Roman" panose="02020603050405020304" pitchFamily="18" charset="0"/>
              </a:rPr>
            </a:br>
            <a:r>
              <a:rPr lang="en-US" dirty="0">
                <a:solidFill>
                  <a:srgbClr val="00B0F0"/>
                </a:solidFill>
                <a:latin typeface="Times New Roman" panose="02020603050405020304" pitchFamily="18" charset="0"/>
                <a:cs typeface="Times New Roman" panose="02020603050405020304" pitchFamily="18" charset="0"/>
              </a:rPr>
              <a:t>WHERE days_late &gt; 0;</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Result</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241 loans have experienced at least one delayed payment.</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Business Insight</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Delayed loans can become future defaults. The bank should use early-warning systems, reminders, auto-debit, and targeted collection strategies.</a:t>
            </a:r>
            <a:endParaRPr lang="en-IN"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pic>
        <p:nvPicPr>
          <p:cNvPr id="4" name="Picture 3">
            <a:extLst>
              <a:ext uri="{FF2B5EF4-FFF2-40B4-BE49-F238E27FC236}">
                <a16:creationId xmlns:a16="http://schemas.microsoft.com/office/drawing/2014/main" id="{67953BC4-FCBF-A2CB-9866-FF1EB545E8E3}"/>
              </a:ext>
            </a:extLst>
          </p:cNvPr>
          <p:cNvPicPr>
            <a:picLocks noChangeAspect="1"/>
          </p:cNvPicPr>
          <p:nvPr/>
        </p:nvPicPr>
        <p:blipFill>
          <a:blip r:embed="rId2"/>
          <a:stretch>
            <a:fillRect/>
          </a:stretch>
        </p:blipFill>
        <p:spPr>
          <a:xfrm>
            <a:off x="8578030" y="1343713"/>
            <a:ext cx="2698032" cy="1281499"/>
          </a:xfrm>
          <a:prstGeom prst="rect">
            <a:avLst/>
          </a:prstGeom>
        </p:spPr>
      </p:pic>
      <p:pic>
        <p:nvPicPr>
          <p:cNvPr id="6" name="Picture 5">
            <a:extLst>
              <a:ext uri="{FF2B5EF4-FFF2-40B4-BE49-F238E27FC236}">
                <a16:creationId xmlns:a16="http://schemas.microsoft.com/office/drawing/2014/main" id="{5B625887-DFD9-093A-7156-4A6B8822A1BF}"/>
              </a:ext>
            </a:extLst>
          </p:cNvPr>
          <p:cNvPicPr>
            <a:picLocks noChangeAspect="1"/>
          </p:cNvPicPr>
          <p:nvPr/>
        </p:nvPicPr>
        <p:blipFill>
          <a:blip r:embed="rId3"/>
          <a:stretch>
            <a:fillRect/>
          </a:stretch>
        </p:blipFill>
        <p:spPr>
          <a:xfrm>
            <a:off x="8750709" y="3647768"/>
            <a:ext cx="2352675" cy="1081548"/>
          </a:xfrm>
          <a:prstGeom prst="rect">
            <a:avLst/>
          </a:prstGeom>
        </p:spPr>
      </p:pic>
    </p:spTree>
    <p:extLst>
      <p:ext uri="{BB962C8B-B14F-4D97-AF65-F5344CB8AC3E}">
        <p14:creationId xmlns:p14="http://schemas.microsoft.com/office/powerpoint/2010/main" val="1766474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5964-9847-7F82-A6DC-96761CFA591D}"/>
              </a:ext>
            </a:extLst>
          </p:cNvPr>
          <p:cNvSpPr>
            <a:spLocks noGrp="1"/>
          </p:cNvSpPr>
          <p:nvPr>
            <p:ph type="title"/>
          </p:nvPr>
        </p:nvSpPr>
        <p:spPr>
          <a:xfrm>
            <a:off x="1216152" y="109093"/>
            <a:ext cx="10515600" cy="695579"/>
          </a:xfrm>
        </p:spPr>
        <p:txBody>
          <a:bodyPr>
            <a:norm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SQL ANALYTICS FRAMEWORK</a:t>
            </a:r>
          </a:p>
        </p:txBody>
      </p:sp>
      <p:sp>
        <p:nvSpPr>
          <p:cNvPr id="3" name="Text Placeholder 2">
            <a:extLst>
              <a:ext uri="{FF2B5EF4-FFF2-40B4-BE49-F238E27FC236}">
                <a16:creationId xmlns:a16="http://schemas.microsoft.com/office/drawing/2014/main" id="{B69DF9FD-74A1-11E6-9948-3659A64F4326}"/>
              </a:ext>
            </a:extLst>
          </p:cNvPr>
          <p:cNvSpPr>
            <a:spLocks noGrp="1"/>
          </p:cNvSpPr>
          <p:nvPr>
            <p:ph type="body" idx="1"/>
          </p:nvPr>
        </p:nvSpPr>
        <p:spPr>
          <a:xfrm>
            <a:off x="377952" y="694944"/>
            <a:ext cx="11594592" cy="6053963"/>
          </a:xfrm>
        </p:spPr>
        <p:txBody>
          <a:bodyPr>
            <a:normAutofit fontScale="92500" lnSpcReduction="20000"/>
          </a:bodyPr>
          <a:lstStyle/>
          <a:p>
            <a:pPr marL="114300" indent="0">
              <a:buNone/>
            </a:pPr>
            <a:r>
              <a:rPr lang="en-IN" sz="1900" dirty="0">
                <a:solidFill>
                  <a:srgbClr val="FF0000"/>
                </a:solidFill>
                <a:latin typeface="Times New Roman" panose="02020603050405020304" pitchFamily="18" charset="0"/>
                <a:cs typeface="Times New Roman" panose="02020603050405020304" pitchFamily="18" charset="0"/>
              </a:rPr>
              <a:t>How SQL Was Used </a:t>
            </a:r>
            <a:r>
              <a:rPr lang="en-IN" sz="1800" dirty="0">
                <a:solidFill>
                  <a:schemeClr val="tx1"/>
                </a:solidFill>
                <a:latin typeface="Times New Roman" panose="02020603050405020304" pitchFamily="18" charset="0"/>
                <a:cs typeface="Times New Roman" panose="02020603050405020304" pitchFamily="18" charset="0"/>
              </a:rPr>
              <a:t>: This is pipeline how the SQL Techniques  has been implemented</a:t>
            </a:r>
          </a:p>
          <a:p>
            <a:pPr marL="114300" indent="0">
              <a:buNone/>
            </a:pPr>
            <a:r>
              <a:rPr lang="en-IN" sz="1900" b="1" dirty="0">
                <a:latin typeface="Times New Roman" panose="02020603050405020304" pitchFamily="18" charset="0"/>
                <a:cs typeface="Times New Roman" panose="02020603050405020304" pitchFamily="18" charset="0"/>
              </a:rPr>
              <a:t>1. SELECT</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Retrieve required data</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r>
              <a:rPr lang="en-IN" sz="1900" b="1" dirty="0">
                <a:latin typeface="Times New Roman" panose="02020603050405020304" pitchFamily="18" charset="0"/>
                <a:cs typeface="Times New Roman" panose="02020603050405020304" pitchFamily="18" charset="0"/>
              </a:rPr>
              <a:t>2. WHERE</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Filter relevant records</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r>
              <a:rPr lang="en-IN" sz="1900" b="1" dirty="0">
                <a:latin typeface="Times New Roman" panose="02020603050405020304" pitchFamily="18" charset="0"/>
                <a:cs typeface="Times New Roman" panose="02020603050405020304" pitchFamily="18" charset="0"/>
              </a:rPr>
              <a:t>3. JOINS</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 Combine banking tables</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r>
              <a:rPr lang="en-IN" sz="1900" b="1" dirty="0">
                <a:latin typeface="Times New Roman" panose="02020603050405020304" pitchFamily="18" charset="0"/>
                <a:cs typeface="Times New Roman" panose="02020603050405020304" pitchFamily="18" charset="0"/>
              </a:rPr>
              <a:t>4. GROUP BY</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Create business-level summaries</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r>
              <a:rPr lang="en-IN" sz="1900" b="1" dirty="0">
                <a:latin typeface="Times New Roman" panose="02020603050405020304" pitchFamily="18" charset="0"/>
                <a:cs typeface="Times New Roman" panose="02020603050405020304" pitchFamily="18" charset="0"/>
              </a:rPr>
              <a:t>5. AGGREGATE</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COUNT() • SUM() • AVG() • MAX()</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r>
              <a:rPr lang="en-IN" sz="1900" b="1" dirty="0">
                <a:latin typeface="Times New Roman" panose="02020603050405020304" pitchFamily="18" charset="0"/>
                <a:cs typeface="Times New Roman" panose="02020603050405020304" pitchFamily="18" charset="0"/>
              </a:rPr>
              <a:t>6. ORDER BY / LIMIT</a:t>
            </a:r>
          </a:p>
          <a:p>
            <a:pPr>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Identify top-performing or highest-value records</a:t>
            </a:r>
          </a:p>
          <a:p>
            <a:pPr marL="114300" indent="0">
              <a:buNone/>
            </a:pPr>
            <a:endParaRPr lang="en-IN" sz="1800" dirty="0">
              <a:solidFill>
                <a:srgbClr val="FF0000"/>
              </a:solidFill>
            </a:endParaRPr>
          </a:p>
        </p:txBody>
      </p:sp>
    </p:spTree>
    <p:extLst>
      <p:ext uri="{BB962C8B-B14F-4D97-AF65-F5344CB8AC3E}">
        <p14:creationId xmlns:p14="http://schemas.microsoft.com/office/powerpoint/2010/main" val="752423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353A2-FEF2-3CA6-D0E6-3475D0B9567E}"/>
              </a:ext>
            </a:extLst>
          </p:cNvPr>
          <p:cNvSpPr>
            <a:spLocks noGrp="1"/>
          </p:cNvSpPr>
          <p:nvPr>
            <p:ph type="title"/>
          </p:nvPr>
        </p:nvSpPr>
        <p:spPr>
          <a:xfrm>
            <a:off x="838200" y="365125"/>
            <a:ext cx="10515600" cy="559107"/>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Overall key Insights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C76FD2D-A3E2-12CD-B263-2CE576F50BFC}"/>
              </a:ext>
            </a:extLst>
          </p:cNvPr>
          <p:cNvSpPr>
            <a:spLocks noGrp="1"/>
          </p:cNvSpPr>
          <p:nvPr>
            <p:ph type="body" idx="1"/>
          </p:nvPr>
        </p:nvSpPr>
        <p:spPr>
          <a:xfrm>
            <a:off x="553065" y="1343845"/>
            <a:ext cx="10515600" cy="4351338"/>
          </a:xfrm>
        </p:spPr>
        <p:txBody>
          <a:bodyPr>
            <a:normAutofit fontScale="62500" lnSpcReduction="20000"/>
          </a:bodyPr>
          <a:lstStyle/>
          <a:p>
            <a:pPr marL="114300" indent="0">
              <a:buNone/>
            </a:pPr>
            <a:r>
              <a:rPr lang="en-IN" b="1" dirty="0">
                <a:latin typeface="Times New Roman" panose="02020603050405020304" pitchFamily="18" charset="0"/>
                <a:cs typeface="Times New Roman" panose="02020603050405020304" pitchFamily="18" charset="0"/>
              </a:rPr>
              <a:t>1. Customers</a:t>
            </a:r>
          </a:p>
          <a:p>
            <a:pPr lvl="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data helps the bank understand </a:t>
            </a:r>
            <a:r>
              <a:rPr lang="en-IN" b="1" dirty="0">
                <a:latin typeface="Times New Roman" panose="02020603050405020304" pitchFamily="18" charset="0"/>
                <a:cs typeface="Times New Roman" panose="02020603050405020304" pitchFamily="18" charset="0"/>
              </a:rPr>
              <a:t>customer segments, demographics, income, credit scores, and activity status</a:t>
            </a:r>
            <a:r>
              <a:rPr lang="en-IN"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information can be used to identify </a:t>
            </a:r>
            <a:r>
              <a:rPr lang="en-IN" b="1" dirty="0">
                <a:latin typeface="Times New Roman" panose="02020603050405020304" pitchFamily="18" charset="0"/>
                <a:cs typeface="Times New Roman" panose="02020603050405020304" pitchFamily="18" charset="0"/>
              </a:rPr>
              <a:t>high-value and potentially inactive customer groups</a:t>
            </a:r>
            <a:r>
              <a:rPr lang="en-IN"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2. Accounts</a:t>
            </a:r>
          </a:p>
          <a:p>
            <a:pPr lvl="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Account data helps analyze </a:t>
            </a:r>
            <a:r>
              <a:rPr lang="en-IN" b="1" dirty="0">
                <a:latin typeface="Times New Roman" panose="02020603050405020304" pitchFamily="18" charset="0"/>
                <a:cs typeface="Times New Roman" panose="02020603050405020304" pitchFamily="18" charset="0"/>
              </a:rPr>
              <a:t>account types, balances, interest rates, and account status</a:t>
            </a:r>
            <a:r>
              <a:rPr lang="en-IN"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Linking accounts with customers, branches, cards, and transactions enables </a:t>
            </a:r>
            <a:r>
              <a:rPr lang="en-IN" b="1" dirty="0">
                <a:latin typeface="Times New Roman" panose="02020603050405020304" pitchFamily="18" charset="0"/>
                <a:cs typeface="Times New Roman" panose="02020603050405020304" pitchFamily="18" charset="0"/>
              </a:rPr>
              <a:t>complete account-level behaviour analysis</a:t>
            </a:r>
            <a:r>
              <a:rPr lang="en-IN"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3. Branches</a:t>
            </a:r>
          </a:p>
          <a:p>
            <a:pPr lvl="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Branch data allows the bank to compare </a:t>
            </a:r>
            <a:r>
              <a:rPr lang="en-IN" b="1" dirty="0">
                <a:latin typeface="Times New Roman" panose="02020603050405020304" pitchFamily="18" charset="0"/>
                <a:cs typeface="Times New Roman" panose="02020603050405020304" pitchFamily="18" charset="0"/>
              </a:rPr>
              <a:t>customer and account activity across different branches and regions</a:t>
            </a:r>
            <a:r>
              <a:rPr lang="en-IN"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Branch-level analysis can help identify </a:t>
            </a:r>
            <a:r>
              <a:rPr lang="en-IN" b="1" dirty="0">
                <a:latin typeface="Times New Roman" panose="02020603050405020304" pitchFamily="18" charset="0"/>
                <a:cs typeface="Times New Roman" panose="02020603050405020304" pitchFamily="18" charset="0"/>
              </a:rPr>
              <a:t>high-performing and low-performing branches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69712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F53D8-D9A2-6EEE-4859-905FAFD88856}"/>
              </a:ext>
            </a:extLst>
          </p:cNvPr>
          <p:cNvSpPr>
            <a:spLocks noGrp="1"/>
          </p:cNvSpPr>
          <p:nvPr>
            <p:ph type="title"/>
          </p:nvPr>
        </p:nvSpPr>
        <p:spPr>
          <a:xfrm>
            <a:off x="838200" y="365125"/>
            <a:ext cx="10515600" cy="775417"/>
          </a:xfrm>
        </p:spPr>
        <p:txBody>
          <a:bodyPr>
            <a:normAutofit/>
          </a:bodyPr>
          <a:lstStyle/>
          <a:p>
            <a:r>
              <a:rPr lang="en-US" sz="2000" b="1" dirty="0">
                <a:solidFill>
                  <a:srgbClr val="FF0000"/>
                </a:solidFill>
              </a:rPr>
              <a:t>Overall Key Insights </a:t>
            </a:r>
            <a:endParaRPr lang="en-IN" sz="2000" b="1" dirty="0">
              <a:solidFill>
                <a:srgbClr val="FF0000"/>
              </a:solidFill>
            </a:endParaRPr>
          </a:p>
        </p:txBody>
      </p:sp>
      <p:sp>
        <p:nvSpPr>
          <p:cNvPr id="3" name="Text Placeholder 2">
            <a:extLst>
              <a:ext uri="{FF2B5EF4-FFF2-40B4-BE49-F238E27FC236}">
                <a16:creationId xmlns:a16="http://schemas.microsoft.com/office/drawing/2014/main" id="{70D5F541-A845-9672-25F1-136F9FA4CA81}"/>
              </a:ext>
            </a:extLst>
          </p:cNvPr>
          <p:cNvSpPr>
            <a:spLocks noGrp="1"/>
          </p:cNvSpPr>
          <p:nvPr>
            <p:ph type="body" idx="1"/>
          </p:nvPr>
        </p:nvSpPr>
        <p:spPr>
          <a:xfrm>
            <a:off x="651387" y="1061884"/>
            <a:ext cx="10515600" cy="5024283"/>
          </a:xfrm>
        </p:spPr>
        <p:txBody>
          <a:bodyPr>
            <a:normAutofit fontScale="85000" lnSpcReduction="10000"/>
          </a:bodyPr>
          <a:lstStyle/>
          <a:p>
            <a:pPr marL="114300" indent="0">
              <a:buNone/>
            </a:pPr>
            <a:r>
              <a:rPr lang="en-IN" sz="2000" b="1" dirty="0">
                <a:latin typeface="Times New Roman" panose="02020603050405020304" pitchFamily="18" charset="0"/>
                <a:cs typeface="Times New Roman" panose="02020603050405020304" pitchFamily="18" charset="0"/>
              </a:rPr>
              <a:t>4. Transactions</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Transaction data helps identify </a:t>
            </a:r>
            <a:r>
              <a:rPr lang="en-IN" sz="2000" b="1" dirty="0">
                <a:latin typeface="Times New Roman" panose="02020603050405020304" pitchFamily="18" charset="0"/>
                <a:cs typeface="Times New Roman" panose="02020603050405020304" pitchFamily="18" charset="0"/>
              </a:rPr>
              <a:t>popular transaction types, channels, amounts, and activity patterns over time</a:t>
            </a:r>
            <a:r>
              <a:rPr lang="en-IN" sz="20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Linking transactions to accounts helps analyze </a:t>
            </a:r>
            <a:r>
              <a:rPr lang="en-IN" sz="2000" b="1" dirty="0">
                <a:latin typeface="Times New Roman" panose="02020603050405020304" pitchFamily="18" charset="0"/>
                <a:cs typeface="Times New Roman" panose="02020603050405020304" pitchFamily="18" charset="0"/>
              </a:rPr>
              <a:t>how transaction activity affects account balances</a:t>
            </a:r>
            <a:r>
              <a:rPr lang="en-IN" sz="2000" dirty="0">
                <a:latin typeface="Times New Roman" panose="02020603050405020304" pitchFamily="18" charset="0"/>
                <a:cs typeface="Times New Roman" panose="02020603050405020304" pitchFamily="18" charset="0"/>
              </a:rPr>
              <a:t>. </a:t>
            </a:r>
          </a:p>
          <a:p>
            <a:pPr marL="114300" indent="0">
              <a:buNone/>
            </a:pPr>
            <a:r>
              <a:rPr lang="en-IN" sz="2000" b="1" dirty="0">
                <a:latin typeface="Times New Roman" panose="02020603050405020304" pitchFamily="18" charset="0"/>
                <a:cs typeface="Times New Roman" panose="02020603050405020304" pitchFamily="18" charset="0"/>
              </a:rPr>
              <a:t>5. Loans</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Loan data helps evaluate </a:t>
            </a:r>
            <a:r>
              <a:rPr lang="en-IN" sz="2000" b="1" dirty="0">
                <a:latin typeface="Times New Roman" panose="02020603050405020304" pitchFamily="18" charset="0"/>
                <a:cs typeface="Times New Roman" panose="02020603050405020304" pitchFamily="18" charset="0"/>
              </a:rPr>
              <a:t>loan types, purposes, outstanding balances, interest rates, and loan statuses</a:t>
            </a:r>
            <a:r>
              <a:rPr lang="en-IN" sz="20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Combining loans with customer and branch data supports analysis of </a:t>
            </a:r>
            <a:r>
              <a:rPr lang="en-IN" sz="2000" b="1" dirty="0">
                <a:latin typeface="Times New Roman" panose="02020603050405020304" pitchFamily="18" charset="0"/>
                <a:cs typeface="Times New Roman" panose="02020603050405020304" pitchFamily="18" charset="0"/>
              </a:rPr>
              <a:t>loan performance across customers and branches</a:t>
            </a:r>
            <a:r>
              <a:rPr lang="en-IN" sz="2000" dirty="0">
                <a:latin typeface="Times New Roman" panose="02020603050405020304" pitchFamily="18" charset="0"/>
                <a:cs typeface="Times New Roman" panose="02020603050405020304" pitchFamily="18" charset="0"/>
              </a:rPr>
              <a:t>. </a:t>
            </a:r>
          </a:p>
          <a:p>
            <a:pPr marL="114300" indent="0">
              <a:buNone/>
            </a:pPr>
            <a:r>
              <a:rPr lang="en-IN" sz="2000" b="1" dirty="0">
                <a:latin typeface="Times New Roman" panose="02020603050405020304" pitchFamily="18" charset="0"/>
                <a:cs typeface="Times New Roman" panose="02020603050405020304" pitchFamily="18" charset="0"/>
              </a:rPr>
              <a:t>6. Loan Payments</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Payment data helps identify </a:t>
            </a:r>
            <a:r>
              <a:rPr lang="en-IN" sz="2000" b="1" dirty="0">
                <a:latin typeface="Times New Roman" panose="02020603050405020304" pitchFamily="18" charset="0"/>
                <a:cs typeface="Times New Roman" panose="02020603050405020304" pitchFamily="18" charset="0"/>
              </a:rPr>
              <a:t>repayment delays, penalties, payment amounts, and payment methods</a:t>
            </a:r>
            <a:r>
              <a:rPr lang="en-IN" sz="20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Comparing scheduled and actual payments helps the bank understand </a:t>
            </a:r>
            <a:r>
              <a:rPr lang="en-IN" sz="2000" b="1" dirty="0">
                <a:latin typeface="Times New Roman" panose="02020603050405020304" pitchFamily="18" charset="0"/>
                <a:cs typeface="Times New Roman" panose="02020603050405020304" pitchFamily="18" charset="0"/>
              </a:rPr>
              <a:t>customer repayment behaviour</a:t>
            </a:r>
            <a:r>
              <a:rPr lang="en-IN" sz="2000" dirty="0">
                <a:latin typeface="Times New Roman" panose="02020603050405020304" pitchFamily="18" charset="0"/>
                <a:cs typeface="Times New Roman" panose="02020603050405020304" pitchFamily="18" charset="0"/>
              </a:rPr>
              <a:t>. </a:t>
            </a:r>
          </a:p>
          <a:p>
            <a:pPr marL="114300" indent="0">
              <a:buNone/>
            </a:pPr>
            <a:r>
              <a:rPr lang="en-IN" sz="2000" b="1" dirty="0">
                <a:latin typeface="Times New Roman" panose="02020603050405020304" pitchFamily="18" charset="0"/>
                <a:cs typeface="Times New Roman" panose="02020603050405020304" pitchFamily="18" charset="0"/>
              </a:rPr>
              <a:t>7. Cards</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Card data helps analyze </a:t>
            </a:r>
            <a:r>
              <a:rPr lang="en-IN" sz="2000" b="1" dirty="0">
                <a:latin typeface="Times New Roman" panose="02020603050405020304" pitchFamily="18" charset="0"/>
                <a:cs typeface="Times New Roman" panose="02020603050405020304" pitchFamily="18" charset="0"/>
              </a:rPr>
              <a:t>card types, networks, active/inactive cards, credit limits, and outstanding balances</a:t>
            </a:r>
            <a:r>
              <a:rPr lang="en-IN" sz="20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Reward points and card-account relationships help measure </a:t>
            </a:r>
            <a:r>
              <a:rPr lang="en-IN" sz="2000" b="1" dirty="0">
                <a:latin typeface="Times New Roman" panose="02020603050405020304" pitchFamily="18" charset="0"/>
                <a:cs typeface="Times New Roman" panose="02020603050405020304" pitchFamily="18" charset="0"/>
              </a:rPr>
              <a:t>customer card engagement and broader product usage</a:t>
            </a:r>
            <a:r>
              <a:rPr lang="en-IN" sz="2000" dirty="0">
                <a:latin typeface="Times New Roman" panose="02020603050405020304" pitchFamily="18" charset="0"/>
                <a:cs typeface="Times New Roman" panose="02020603050405020304" pitchFamily="18" charset="0"/>
              </a:rPr>
              <a:t>.</a:t>
            </a:r>
          </a:p>
          <a:p>
            <a:endParaRPr lang="en-IN" sz="2000" dirty="0"/>
          </a:p>
        </p:txBody>
      </p:sp>
    </p:spTree>
    <p:extLst>
      <p:ext uri="{BB962C8B-B14F-4D97-AF65-F5344CB8AC3E}">
        <p14:creationId xmlns:p14="http://schemas.microsoft.com/office/powerpoint/2010/main" val="723497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F7E8-E362-EE3E-7014-0509FFA9903A}"/>
              </a:ext>
            </a:extLst>
          </p:cNvPr>
          <p:cNvSpPr>
            <a:spLocks noGrp="1"/>
          </p:cNvSpPr>
          <p:nvPr>
            <p:ph type="title"/>
          </p:nvPr>
        </p:nvSpPr>
        <p:spPr>
          <a:xfrm>
            <a:off x="838200" y="365126"/>
            <a:ext cx="10515600" cy="814746"/>
          </a:xfrm>
        </p:spPr>
        <p:txBody>
          <a:bodyPr>
            <a:normAutofit/>
          </a:bodyPr>
          <a:lstStyle/>
          <a:p>
            <a:r>
              <a:rPr lang="en-US" sz="2800" b="1" dirty="0">
                <a:solidFill>
                  <a:srgbClr val="FF0000"/>
                </a:solidFill>
              </a:rPr>
              <a:t>Bussiness Recommendation</a:t>
            </a:r>
            <a:endParaRPr lang="en-IN" sz="2800" b="1" dirty="0">
              <a:solidFill>
                <a:srgbClr val="FF0000"/>
              </a:solidFill>
            </a:endParaRPr>
          </a:p>
        </p:txBody>
      </p:sp>
      <p:sp>
        <p:nvSpPr>
          <p:cNvPr id="3" name="Text Placeholder 2">
            <a:extLst>
              <a:ext uri="{FF2B5EF4-FFF2-40B4-BE49-F238E27FC236}">
                <a16:creationId xmlns:a16="http://schemas.microsoft.com/office/drawing/2014/main" id="{D264B7E5-13FA-185A-4B56-8F046033BC17}"/>
              </a:ext>
            </a:extLst>
          </p:cNvPr>
          <p:cNvSpPr>
            <a:spLocks noGrp="1"/>
          </p:cNvSpPr>
          <p:nvPr>
            <p:ph type="body" idx="1"/>
          </p:nvPr>
        </p:nvSpPr>
        <p:spPr>
          <a:xfrm>
            <a:off x="838199" y="1356852"/>
            <a:ext cx="10881853" cy="4680154"/>
          </a:xfrm>
        </p:spPr>
        <p:txBody>
          <a:bodyPr>
            <a:normAutofit fontScale="92500" lnSpcReduction="20000"/>
          </a:bodyPr>
          <a:lstStyle/>
          <a:p>
            <a:pPr marL="114300" lvl="0" indent="0">
              <a:buNone/>
            </a:pPr>
            <a:r>
              <a:rPr lang="en-IN" sz="2000" b="1" dirty="0">
                <a:latin typeface="Times New Roman" panose="02020603050405020304" pitchFamily="18" charset="0"/>
                <a:cs typeface="Times New Roman" panose="02020603050405020304" pitchFamily="18" charset="0"/>
              </a:rPr>
              <a:t>Understand customers better</a:t>
            </a:r>
            <a:r>
              <a:rPr lang="en-IN" sz="2000" dirty="0">
                <a:latin typeface="Times New Roman" panose="02020603050405020304" pitchFamily="18" charset="0"/>
                <a:cs typeface="Times New Roman" panose="02020603050405020304" pitchFamily="18" charset="0"/>
              </a:rPr>
              <a:t> – Use customer data to offer suitable products. </a:t>
            </a:r>
          </a:p>
          <a:p>
            <a:pPr marL="114300" lvl="0" indent="0">
              <a:buNone/>
            </a:pPr>
            <a:endParaRPr lang="en-IN" sz="2000"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Increase product usage</a:t>
            </a:r>
            <a:r>
              <a:rPr lang="en-IN" sz="2000" dirty="0">
                <a:latin typeface="Times New Roman" panose="02020603050405020304" pitchFamily="18" charset="0"/>
                <a:cs typeface="Times New Roman" panose="02020603050405020304" pitchFamily="18" charset="0"/>
              </a:rPr>
              <a:t> – Encourage customers to use more banking products like cards, loans, and</a:t>
            </a:r>
          </a:p>
          <a:p>
            <a:pPr marL="114300" lvl="0" indent="0">
              <a:buNone/>
            </a:pPr>
            <a:r>
              <a:rPr lang="en-IN" sz="2000" dirty="0">
                <a:latin typeface="Times New Roman" panose="02020603050405020304" pitchFamily="18" charset="0"/>
                <a:cs typeface="Times New Roman" panose="02020603050405020304" pitchFamily="18" charset="0"/>
              </a:rPr>
              <a:t> accounts. </a:t>
            </a:r>
          </a:p>
          <a:p>
            <a:pPr marL="114300" lvl="0" indent="0">
              <a:buNone/>
            </a:pPr>
            <a:endParaRPr lang="en-IN" sz="2000"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Monitor transactions</a:t>
            </a:r>
            <a:r>
              <a:rPr lang="en-IN" sz="2000" dirty="0">
                <a:latin typeface="Times New Roman" panose="02020603050405020304" pitchFamily="18" charset="0"/>
                <a:cs typeface="Times New Roman" panose="02020603050405020304" pitchFamily="18" charset="0"/>
              </a:rPr>
              <a:t> – Track transaction activity to identify important changes and patterns. </a:t>
            </a:r>
          </a:p>
          <a:p>
            <a:pPr marL="114300" lvl="0" indent="0">
              <a:buNone/>
            </a:pPr>
            <a:endParaRPr lang="en-IN" sz="2000"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Improve loan repayment</a:t>
            </a:r>
            <a:r>
              <a:rPr lang="en-IN" sz="2000" dirty="0">
                <a:latin typeface="Times New Roman" panose="02020603050405020304" pitchFamily="18" charset="0"/>
                <a:cs typeface="Times New Roman" panose="02020603050405020304" pitchFamily="18" charset="0"/>
              </a:rPr>
              <a:t> – Monitor late payments and penalties to reduce loan repayment problems. </a:t>
            </a:r>
          </a:p>
          <a:p>
            <a:pPr marL="114300" lvl="0" indent="0">
              <a:buNone/>
            </a:pPr>
            <a:endParaRPr lang="en-IN" sz="2000"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Improve customer service</a:t>
            </a:r>
            <a:r>
              <a:rPr lang="en-IN" sz="2000" dirty="0">
                <a:latin typeface="Times New Roman" panose="02020603050405020304" pitchFamily="18" charset="0"/>
                <a:cs typeface="Times New Roman" panose="02020603050405020304" pitchFamily="18" charset="0"/>
              </a:rPr>
              <a:t> – Use data insights to provide better services and make better business decisions.</a:t>
            </a:r>
          </a:p>
          <a:p>
            <a:pPr marL="114300" lvl="0" indent="0">
              <a:buNone/>
            </a:pPr>
            <a:endParaRPr lang="en-IN" sz="2000" dirty="0"/>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Overall recommendation bank should use customer and transaction data to improve services, increase product usage, and better understand customer needs. It should also monitor loan repayments and financial activity to reduce risks and make better business decisions.</a:t>
            </a:r>
          </a:p>
        </p:txBody>
      </p:sp>
    </p:spTree>
    <p:extLst>
      <p:ext uri="{BB962C8B-B14F-4D97-AF65-F5344CB8AC3E}">
        <p14:creationId xmlns:p14="http://schemas.microsoft.com/office/powerpoint/2010/main" val="2007821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485C-A480-D190-CFDE-F9D37D274EAC}"/>
              </a:ext>
            </a:extLst>
          </p:cNvPr>
          <p:cNvSpPr>
            <a:spLocks noGrp="1"/>
          </p:cNvSpPr>
          <p:nvPr>
            <p:ph type="title"/>
          </p:nvPr>
        </p:nvSpPr>
        <p:spPr>
          <a:xfrm>
            <a:off x="621890" y="0"/>
            <a:ext cx="10515600" cy="775417"/>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Conclusion</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B6BB180-4465-ABED-2C72-AB9396264385}"/>
              </a:ext>
            </a:extLst>
          </p:cNvPr>
          <p:cNvSpPr>
            <a:spLocks noGrp="1"/>
          </p:cNvSpPr>
          <p:nvPr>
            <p:ph type="body" idx="1"/>
          </p:nvPr>
        </p:nvSpPr>
        <p:spPr>
          <a:xfrm>
            <a:off x="474407" y="1052052"/>
            <a:ext cx="11058832" cy="4326193"/>
          </a:xfrm>
        </p:spPr>
        <p:txBody>
          <a:bodyPr>
            <a:normAutofit/>
          </a:bodyPr>
          <a:lstStyle/>
          <a:p>
            <a:pPr marL="114300" indent="0">
              <a:buNone/>
            </a:pPr>
            <a:r>
              <a:rPr lang="en-IN" sz="1800" dirty="0">
                <a:solidFill>
                  <a:schemeClr val="tx1"/>
                </a:solidFill>
                <a:latin typeface="Times New Roman" panose="02020603050405020304" pitchFamily="18" charset="0"/>
                <a:cs typeface="Times New Roman" panose="02020603050405020304" pitchFamily="18" charset="0"/>
              </a:rPr>
              <a:t>This project helped the bank understand its </a:t>
            </a:r>
            <a:r>
              <a:rPr lang="en-IN" sz="1800" b="1" dirty="0">
                <a:solidFill>
                  <a:schemeClr val="tx1"/>
                </a:solidFill>
                <a:latin typeface="Times New Roman" panose="02020603050405020304" pitchFamily="18" charset="0"/>
                <a:cs typeface="Times New Roman" panose="02020603050405020304" pitchFamily="18" charset="0"/>
              </a:rPr>
              <a:t>customers, accounts, branches, transactions, loans, and cards</a:t>
            </a:r>
            <a:r>
              <a:rPr lang="en-IN" sz="1800" dirty="0">
                <a:solidFill>
                  <a:schemeClr val="tx1"/>
                </a:solidFill>
                <a:latin typeface="Times New Roman" panose="02020603050405020304" pitchFamily="18" charset="0"/>
                <a:cs typeface="Times New Roman" panose="02020603050405020304" pitchFamily="18" charset="0"/>
              </a:rPr>
              <a:t> using SQL analysis.</a:t>
            </a:r>
          </a:p>
          <a:p>
            <a:pPr marL="114300" indent="0">
              <a:buNone/>
            </a:pPr>
            <a:endParaRPr lang="en-IN" sz="1800" dirty="0">
              <a:solidFill>
                <a:schemeClr val="tx1"/>
              </a:solidFill>
              <a:latin typeface="Times New Roman" panose="02020603050405020304" pitchFamily="18" charset="0"/>
              <a:cs typeface="Times New Roman" panose="02020603050405020304" pitchFamily="18" charset="0"/>
            </a:endParaRPr>
          </a:p>
          <a:p>
            <a:pPr lvl="0"/>
            <a:r>
              <a:rPr lang="en-IN" sz="1800" b="1" dirty="0">
                <a:solidFill>
                  <a:schemeClr val="tx1"/>
                </a:solidFill>
                <a:latin typeface="Times New Roman" panose="02020603050405020304" pitchFamily="18" charset="0"/>
                <a:cs typeface="Times New Roman" panose="02020603050405020304" pitchFamily="18" charset="0"/>
              </a:rPr>
              <a:t>Customers:</a:t>
            </a:r>
            <a:r>
              <a:rPr lang="en-IN" sz="1800" dirty="0">
                <a:solidFill>
                  <a:schemeClr val="tx1"/>
                </a:solidFill>
                <a:latin typeface="Times New Roman" panose="02020603050405020304" pitchFamily="18" charset="0"/>
                <a:cs typeface="Times New Roman" panose="02020603050405020304" pitchFamily="18" charset="0"/>
              </a:rPr>
              <a:t> The bank can better understand customer segments, income, credit scores, and activity. </a:t>
            </a:r>
          </a:p>
          <a:p>
            <a:pPr lvl="0"/>
            <a:r>
              <a:rPr lang="en-IN" sz="1800" b="1" dirty="0">
                <a:solidFill>
                  <a:schemeClr val="tx1"/>
                </a:solidFill>
                <a:latin typeface="Times New Roman" panose="02020603050405020304" pitchFamily="18" charset="0"/>
                <a:cs typeface="Times New Roman" panose="02020603050405020304" pitchFamily="18" charset="0"/>
              </a:rPr>
              <a:t>Accounts:</a:t>
            </a:r>
            <a:r>
              <a:rPr lang="en-IN" sz="1800" dirty="0">
                <a:solidFill>
                  <a:schemeClr val="tx1"/>
                </a:solidFill>
                <a:latin typeface="Times New Roman" panose="02020603050405020304" pitchFamily="18" charset="0"/>
                <a:cs typeface="Times New Roman" panose="02020603050405020304" pitchFamily="18" charset="0"/>
              </a:rPr>
              <a:t> Account balances, account types, and usage can be compared to understand customer banking needs. </a:t>
            </a:r>
          </a:p>
          <a:p>
            <a:pPr lvl="0"/>
            <a:r>
              <a:rPr lang="en-IN" sz="1800" b="1" dirty="0">
                <a:solidFill>
                  <a:schemeClr val="tx1"/>
                </a:solidFill>
                <a:latin typeface="Times New Roman" panose="02020603050405020304" pitchFamily="18" charset="0"/>
                <a:cs typeface="Times New Roman" panose="02020603050405020304" pitchFamily="18" charset="0"/>
              </a:rPr>
              <a:t>Branches:</a:t>
            </a:r>
            <a:r>
              <a:rPr lang="en-IN" sz="1800" dirty="0">
                <a:solidFill>
                  <a:schemeClr val="tx1"/>
                </a:solidFill>
                <a:latin typeface="Times New Roman" panose="02020603050405020304" pitchFamily="18" charset="0"/>
                <a:cs typeface="Times New Roman" panose="02020603050405020304" pitchFamily="18" charset="0"/>
              </a:rPr>
              <a:t> Branch activity and account balances can be compared to identify strong and weak-performing branches. </a:t>
            </a:r>
          </a:p>
          <a:p>
            <a:pPr lvl="0"/>
            <a:r>
              <a:rPr lang="en-IN" sz="1800" b="1" dirty="0">
                <a:solidFill>
                  <a:schemeClr val="tx1"/>
                </a:solidFill>
                <a:latin typeface="Times New Roman" panose="02020603050405020304" pitchFamily="18" charset="0"/>
                <a:cs typeface="Times New Roman" panose="02020603050405020304" pitchFamily="18" charset="0"/>
              </a:rPr>
              <a:t>Loans:</a:t>
            </a:r>
            <a:r>
              <a:rPr lang="en-IN" sz="1800" dirty="0">
                <a:solidFill>
                  <a:schemeClr val="tx1"/>
                </a:solidFill>
                <a:latin typeface="Times New Roman" panose="02020603050405020304" pitchFamily="18" charset="0"/>
                <a:cs typeface="Times New Roman" panose="02020603050405020304" pitchFamily="18" charset="0"/>
              </a:rPr>
              <a:t> Loan amounts, outstanding balances, repayment delays, and penalties can be monitored to improve loan performance. </a:t>
            </a:r>
          </a:p>
          <a:p>
            <a:pPr lvl="0"/>
            <a:r>
              <a:rPr lang="en-IN" sz="1800" b="1" dirty="0">
                <a:solidFill>
                  <a:schemeClr val="tx1"/>
                </a:solidFill>
                <a:latin typeface="Times New Roman" panose="02020603050405020304" pitchFamily="18" charset="0"/>
                <a:cs typeface="Times New Roman" panose="02020603050405020304" pitchFamily="18" charset="0"/>
              </a:rPr>
              <a:t>Overall:</a:t>
            </a:r>
            <a:r>
              <a:rPr lang="en-IN" sz="1800" dirty="0">
                <a:solidFill>
                  <a:schemeClr val="tx1"/>
                </a:solidFill>
                <a:latin typeface="Times New Roman" panose="02020603050405020304" pitchFamily="18" charset="0"/>
                <a:cs typeface="Times New Roman" panose="02020603050405020304" pitchFamily="18" charset="0"/>
              </a:rPr>
              <a:t> The analysis helps the bank understand customer behaviour, reduce financial risks, improve services, and make better business decisions.</a:t>
            </a:r>
          </a:p>
          <a:p>
            <a:endParaRPr lang="en-IN" sz="1800" dirty="0"/>
          </a:p>
        </p:txBody>
      </p:sp>
    </p:spTree>
    <p:extLst>
      <p:ext uri="{BB962C8B-B14F-4D97-AF65-F5344CB8AC3E}">
        <p14:creationId xmlns:p14="http://schemas.microsoft.com/office/powerpoint/2010/main" val="1995256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1770</Words>
  <Application>Microsoft Office PowerPoint</Application>
  <PresentationFormat>Widescreen</PresentationFormat>
  <Paragraphs>323</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Lato Black</vt:lpstr>
      <vt:lpstr>Libre Baskerville</vt:lpstr>
      <vt:lpstr>Calibri</vt:lpstr>
      <vt:lpstr>Wingdings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PROJECT OBJECTIVES</vt:lpstr>
      <vt:lpstr>PowerPoint Presentation</vt:lpstr>
      <vt:lpstr>PowerPoint Presentation</vt:lpstr>
      <vt:lpstr>PowerPoint Presentation</vt:lpstr>
      <vt:lpstr>PowerPoint Presentation</vt:lpstr>
      <vt:lpstr>PowerPoint Presentation</vt:lpstr>
      <vt:lpstr>SQL ANALYTICS FRAMEWORK</vt:lpstr>
      <vt:lpstr>Overall key Insights</vt:lpstr>
      <vt:lpstr>Overall Key Insights </vt:lpstr>
      <vt:lpstr>Bussiness Recommendation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MAHESH NASARLA</cp:lastModifiedBy>
  <cp:revision>2</cp:revision>
  <dcterms:created xsi:type="dcterms:W3CDTF">2021-02-16T05:19:01Z</dcterms:created>
  <dcterms:modified xsi:type="dcterms:W3CDTF">2026-10-29T16:40:49Z</dcterms:modified>
</cp:coreProperties>
</file>